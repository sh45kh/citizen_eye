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91" r:id="rId1"/>
    <p:sldMasterId id="2147483729" r:id="rId2"/>
  </p:sldMasterIdLst>
  <p:notesMasterIdLst>
    <p:notesMasterId r:id="rId13"/>
  </p:notesMasterIdLst>
  <p:sldIdLst>
    <p:sldId id="266" r:id="rId3"/>
    <p:sldId id="256" r:id="rId4"/>
    <p:sldId id="263" r:id="rId5"/>
    <p:sldId id="258" r:id="rId6"/>
    <p:sldId id="259" r:id="rId7"/>
    <p:sldId id="260" r:id="rId8"/>
    <p:sldId id="261" r:id="rId9"/>
    <p:sldId id="262" r:id="rId10"/>
    <p:sldId id="264" r:id="rId11"/>
    <p:sldId id="265" r:id="rId12"/>
  </p:sldIdLst>
  <p:sldSz cx="9144000" cy="5143500" type="screen16x9"/>
  <p:notesSz cx="5143500" cy="9144000"/>
  <p:embeddedFontLst>
    <p:embeddedFont>
      <p:font typeface="Arimo" panose="020B0604020202020204" charset="0"/>
      <p:regular r:id="rId14"/>
    </p:embeddedFont>
    <p:embeddedFont>
      <p:font typeface="Century Gothic" panose="020B0502020202020204" pitchFamily="34" charset="0"/>
      <p:regular r:id="rId15"/>
      <p:bold r:id="rId16"/>
      <p:italic r:id="rId17"/>
      <p:boldItalic r:id="rId18"/>
    </p:embeddedFont>
    <p:embeddedFont>
      <p:font typeface="Sakkal Majalla" panose="02000000000000000000" pitchFamily="2" charset="-78"/>
      <p:regular r:id="rId19"/>
      <p:bold r:id="rId20"/>
    </p:embeddedFont>
    <p:embeddedFont>
      <p:font typeface="Simplified Arabic" panose="02020603050405020304" pitchFamily="18" charset="-78"/>
      <p:regular r:id="rId21"/>
      <p:bold r:id="rId22"/>
    </p:embeddedFont>
    <p:embeddedFont>
      <p:font typeface="Trebuchet MS" panose="020B0603020202020204" pitchFamily="34" charset="0"/>
      <p:regular r:id="rId23"/>
      <p:bold r:id="rId24"/>
      <p:italic r:id="rId25"/>
      <p:boldItalic r:id="rId26"/>
    </p:embeddedFont>
    <p:embeddedFont>
      <p:font typeface="Wingdings 3" panose="05040102010807070707" pitchFamily="18" charset="2"/>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0A33"/>
    <a:srgbClr val="D9E1FF"/>
    <a:srgbClr val="B6BCDC"/>
    <a:srgbClr val="F8F8F8"/>
    <a:srgbClr val="2B2952"/>
    <a:srgbClr val="1A3560"/>
    <a:srgbClr val="F2F2F2"/>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1.fntdata"/><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6804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937587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16104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40081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875521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524598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7283965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186290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049977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5/19/2026</a:t>
            </a:fld>
            <a:endParaRPr lang="en-US" dirty="0"/>
          </a:p>
        </p:txBody>
      </p:sp>
    </p:spTree>
    <p:extLst>
      <p:ext uri="{BB962C8B-B14F-4D97-AF65-F5344CB8AC3E}">
        <p14:creationId xmlns:p14="http://schemas.microsoft.com/office/powerpoint/2010/main" val="397149692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424180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601311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711470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175308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228851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136583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1612465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962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152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3444123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9953801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09102493"/>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5266585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5/19/2026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4504194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32895259"/>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48288343"/>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6"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23288926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5897184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600267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74271837"/>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4" name="Text Placeholder 3"/>
          <p:cNvSpPr>
            <a:spLocks noGrp="1"/>
          </p:cNvSpPr>
          <p:nvPr>
            <p:ph type="body" sz="half" idx="13"/>
          </p:nvPr>
        </p:nvSpPr>
        <p:spPr>
          <a:xfrm>
            <a:off x="1447800" y="2828380"/>
            <a:ext cx="5459737" cy="256631"/>
          </a:xfrm>
        </p:spPr>
        <p:txBody>
          <a:bodyPr anchor="t">
            <a:normAutofit/>
          </a:bodyPr>
          <a:lstStyle>
            <a:lvl1pPr marL="0" indent="0">
              <a:buNone/>
              <a:defRPr lang="en-US" sz="1050" b="0" i="0" kern="1200" cap="small" dirty="0">
                <a:solidFill>
                  <a:schemeClr val="accent1"/>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9" name="TextBox 8"/>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9150" dirty="0"/>
              <a:t>“</a:t>
            </a:r>
          </a:p>
        </p:txBody>
      </p:sp>
      <p:sp>
        <p:nvSpPr>
          <p:cNvPr id="13" name="TextBox 12"/>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59217237"/>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532495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1963949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521188"/>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70997378"/>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67400589"/>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9443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9094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4006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43841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4020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9974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83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image" Target="../media/image2.png"/><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image" Target="../media/image5.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image" Target="../media/image4.png"/><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5/19/2026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84705366"/>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6">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7">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8">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9">
            <a:extLst>
              <a:ext uri="{28A0092B-C50C-407E-A947-70E740481C1C}">
                <a14:useLocalDpi xmlns:a14="http://schemas.microsoft.com/office/drawing/2010/main" val="0"/>
              </a:ext>
            </a:extLst>
          </a:blip>
          <a:srcRect b="23320"/>
          <a:stretch/>
        </p:blipFill>
        <p:spPr>
          <a:xfrm>
            <a:off x="6456759"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509A250-FF31-4206-8172-F9D3106AACB1}" type="datetimeFigureOut">
              <a:rPr lang="en-US" dirty="0"/>
              <a:t>5/19/2026</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4221990825"/>
      </p:ext>
    </p:extLst>
  </p:cSld>
  <p:clrMap bg1="dk1" tx1="lt1" bg2="dk2"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8.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13" Type="http://schemas.microsoft.com/office/2007/relationships/hdphoto" Target="../media/hdphoto2.wdp"/><Relationship Id="rId3" Type="http://schemas.openxmlformats.org/officeDocument/2006/relationships/image" Target="../media/image20.png"/><Relationship Id="rId7" Type="http://schemas.openxmlformats.org/officeDocument/2006/relationships/image" Target="../media/image24.svg"/><Relationship Id="rId12"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39.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40.xml"/><Relationship Id="rId6" Type="http://schemas.openxmlformats.org/officeDocument/2006/relationships/image" Target="../media/image38.svg"/><Relationship Id="rId11" Type="http://schemas.openxmlformats.org/officeDocument/2006/relationships/image" Target="../media/image43.sv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svg"/><Relationship Id="rId2" Type="http://schemas.openxmlformats.org/officeDocument/2006/relationships/notesSlide" Target="../notesSlides/notesSlide8.xml"/><Relationship Id="rId1" Type="http://schemas.openxmlformats.org/officeDocument/2006/relationships/slideLayout" Target="../slideLayouts/slideLayout41.xml"/><Relationship Id="rId6" Type="http://schemas.openxmlformats.org/officeDocument/2006/relationships/image" Target="../media/image47.sv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42.xml"/><Relationship Id="rId5" Type="http://schemas.openxmlformats.org/officeDocument/2006/relationships/image" Target="../media/image57.sv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463350A-B548-CC6B-A8FD-C3B0C343ED1E}"/>
              </a:ext>
            </a:extLst>
          </p:cNvPr>
          <p:cNvPicPr>
            <a:picLocks noChangeAspect="1"/>
          </p:cNvPicPr>
          <p:nvPr/>
        </p:nvPicPr>
        <p:blipFill>
          <a:blip r:embed="rId2"/>
          <a:stretch>
            <a:fillRect/>
          </a:stretch>
        </p:blipFill>
        <p:spPr>
          <a:xfrm>
            <a:off x="3575371" y="813997"/>
            <a:ext cx="694174" cy="762904"/>
          </a:xfrm>
          <a:prstGeom prst="rect">
            <a:avLst/>
          </a:prstGeom>
        </p:spPr>
      </p:pic>
      <p:sp>
        <p:nvSpPr>
          <p:cNvPr id="10" name="Shape 2"/>
          <p:cNvSpPr/>
          <p:nvPr/>
        </p:nvSpPr>
        <p:spPr>
          <a:xfrm>
            <a:off x="1542504" y="4617226"/>
            <a:ext cx="2342271" cy="355237"/>
          </a:xfrm>
          <a:prstGeom prst="roundRect">
            <a:avLst>
              <a:gd name="adj" fmla="val 6386"/>
            </a:avLst>
          </a:prstGeom>
          <a:solidFill>
            <a:srgbClr val="1A3560"/>
          </a:solidFill>
          <a:ln/>
        </p:spPr>
        <p:txBody>
          <a:bodyPr/>
          <a:lstStyle/>
          <a:p>
            <a:endParaRPr lang="en-US" dirty="0"/>
          </a:p>
        </p:txBody>
      </p:sp>
      <p:sp>
        <p:nvSpPr>
          <p:cNvPr id="11" name="Shape 4"/>
          <p:cNvSpPr/>
          <p:nvPr/>
        </p:nvSpPr>
        <p:spPr>
          <a:xfrm>
            <a:off x="3977870" y="4612462"/>
            <a:ext cx="2066895" cy="360001"/>
          </a:xfrm>
          <a:prstGeom prst="roundRect">
            <a:avLst>
              <a:gd name="adj" fmla="val 6177"/>
            </a:avLst>
          </a:prstGeom>
          <a:solidFill>
            <a:schemeClr val="accent2">
              <a:lumMod val="20000"/>
              <a:lumOff val="80000"/>
            </a:schemeClr>
          </a:solidFill>
          <a:ln w="4763">
            <a:solidFill>
              <a:srgbClr val="8061FF"/>
            </a:solidFill>
            <a:prstDash val="solid"/>
          </a:ln>
        </p:spPr>
        <p:txBody>
          <a:bodyPr/>
          <a:lstStyle/>
          <a:p>
            <a:endParaRPr lang="en-US" dirty="0"/>
          </a:p>
        </p:txBody>
      </p:sp>
      <p:sp>
        <p:nvSpPr>
          <p:cNvPr id="12" name="Text 5"/>
          <p:cNvSpPr/>
          <p:nvPr/>
        </p:nvSpPr>
        <p:spPr>
          <a:xfrm>
            <a:off x="4220088" y="4705261"/>
            <a:ext cx="1645657" cy="243599"/>
          </a:xfrm>
          <a:prstGeom prst="rect">
            <a:avLst/>
          </a:prstGeom>
          <a:noFill/>
          <a:ln/>
        </p:spPr>
        <p:txBody>
          <a:bodyPr wrap="none" lIns="0" tIns="0" rIns="0" bIns="0" rtlCol="0" anchor="t"/>
          <a:lstStyle/>
          <a:p>
            <a:pPr marL="0" indent="0" algn="l">
              <a:lnSpc>
                <a:spcPts val="1500"/>
              </a:lnSpc>
              <a:buNone/>
            </a:pPr>
            <a:r>
              <a:rPr lang="ar-JO" sz="1100" b="1" dirty="0">
                <a:solidFill>
                  <a:srgbClr val="1A3560"/>
                </a:solidFill>
                <a:latin typeface="Arimo" pitchFamily="34" charset="0"/>
                <a:ea typeface="Arimo" pitchFamily="34" charset="-122"/>
                <a:cs typeface="Arimo" pitchFamily="34" charset="-120"/>
              </a:rPr>
              <a:t>المملكة الأردنية الهاشمية -2026</a:t>
            </a:r>
            <a:endParaRPr lang="en-US" sz="1100" b="1" dirty="0">
              <a:solidFill>
                <a:srgbClr val="1A3560"/>
              </a:solidFill>
            </a:endParaRPr>
          </a:p>
        </p:txBody>
      </p:sp>
      <p:sp>
        <p:nvSpPr>
          <p:cNvPr id="14" name="TextBox 13">
            <a:extLst>
              <a:ext uri="{FF2B5EF4-FFF2-40B4-BE49-F238E27FC236}">
                <a16:creationId xmlns:a16="http://schemas.microsoft.com/office/drawing/2014/main" id="{C6A4F025-7A73-344A-A501-8D3AEACD1125}"/>
              </a:ext>
            </a:extLst>
          </p:cNvPr>
          <p:cNvSpPr txBox="1"/>
          <p:nvPr/>
        </p:nvSpPr>
        <p:spPr>
          <a:xfrm>
            <a:off x="1293745" y="4669189"/>
            <a:ext cx="2684125" cy="261610"/>
          </a:xfrm>
          <a:prstGeom prst="rect">
            <a:avLst/>
          </a:prstGeom>
          <a:noFill/>
        </p:spPr>
        <p:txBody>
          <a:bodyPr wrap="square">
            <a:spAutoFit/>
          </a:bodyPr>
          <a:lstStyle/>
          <a:p>
            <a:r>
              <a:rPr lang="ar-JO" sz="1050" dirty="0">
                <a:solidFill>
                  <a:schemeClr val="bg1">
                    <a:lumMod val="85000"/>
                  </a:schemeClr>
                </a:solidFill>
                <a:latin typeface="Arial" panose="020B0604020202020204" pitchFamily="34" charset="0"/>
                <a:cs typeface="Arial" panose="020B0604020202020204" pitchFamily="34" charset="0"/>
              </a:rPr>
              <a:t>جامعة البلقاء التطبيقية | كلية الأمير عبد الله بن غازي      </a:t>
            </a:r>
          </a:p>
        </p:txBody>
      </p:sp>
      <p:sp>
        <p:nvSpPr>
          <p:cNvPr id="15" name="TextBox 14">
            <a:extLst>
              <a:ext uri="{FF2B5EF4-FFF2-40B4-BE49-F238E27FC236}">
                <a16:creationId xmlns:a16="http://schemas.microsoft.com/office/drawing/2014/main" id="{FF71B74D-7743-04A6-E031-7BCAF67164CB}"/>
              </a:ext>
            </a:extLst>
          </p:cNvPr>
          <p:cNvSpPr txBox="1"/>
          <p:nvPr/>
        </p:nvSpPr>
        <p:spPr>
          <a:xfrm>
            <a:off x="2927482" y="1554118"/>
            <a:ext cx="2909121" cy="646331"/>
          </a:xfrm>
          <a:prstGeom prst="rect">
            <a:avLst/>
          </a:prstGeom>
          <a:noFill/>
        </p:spPr>
        <p:txBody>
          <a:bodyPr wrap="square" rtlCol="0">
            <a:spAutoFit/>
          </a:bodyPr>
          <a:lstStyle/>
          <a:p>
            <a:r>
              <a:rPr lang="ar-JO" sz="3600" b="1" dirty="0">
                <a:solidFill>
                  <a:srgbClr val="1A3560"/>
                </a:solidFill>
                <a:latin typeface="Sakkal Majalla" panose="02000000000000000000" pitchFamily="2" charset="-78"/>
                <a:cs typeface="Sakkal Majalla" panose="02000000000000000000" pitchFamily="2" charset="-78"/>
              </a:rPr>
              <a:t>عين المواطن </a:t>
            </a:r>
            <a:endParaRPr lang="en-US" sz="3600" b="1" dirty="0">
              <a:solidFill>
                <a:srgbClr val="1A3560"/>
              </a:solidFill>
              <a:latin typeface="Sakkal Majalla" panose="02000000000000000000" pitchFamily="2" charset="-78"/>
              <a:cs typeface="Sakkal Majalla" panose="02000000000000000000" pitchFamily="2" charset="-78"/>
            </a:endParaRPr>
          </a:p>
        </p:txBody>
      </p:sp>
      <p:pic>
        <p:nvPicPr>
          <p:cNvPr id="17" name="Picture 16">
            <a:extLst>
              <a:ext uri="{FF2B5EF4-FFF2-40B4-BE49-F238E27FC236}">
                <a16:creationId xmlns:a16="http://schemas.microsoft.com/office/drawing/2014/main" id="{51D06667-9796-B605-2717-46D411648C9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414235" y="194852"/>
            <a:ext cx="3063505" cy="502964"/>
          </a:xfrm>
          <a:prstGeom prst="rect">
            <a:avLst/>
          </a:prstGeom>
        </p:spPr>
      </p:pic>
      <p:sp>
        <p:nvSpPr>
          <p:cNvPr id="18" name="TextBox 17">
            <a:extLst>
              <a:ext uri="{FF2B5EF4-FFF2-40B4-BE49-F238E27FC236}">
                <a16:creationId xmlns:a16="http://schemas.microsoft.com/office/drawing/2014/main" id="{27EE6375-13D7-EFC1-DAA0-3295BBECFFA2}"/>
              </a:ext>
            </a:extLst>
          </p:cNvPr>
          <p:cNvSpPr txBox="1"/>
          <p:nvPr/>
        </p:nvSpPr>
        <p:spPr>
          <a:xfrm>
            <a:off x="3241462" y="2457730"/>
            <a:ext cx="1209822" cy="276999"/>
          </a:xfrm>
          <a:prstGeom prst="rect">
            <a:avLst/>
          </a:prstGeom>
          <a:noFill/>
        </p:spPr>
        <p:txBody>
          <a:bodyPr wrap="square" rtlCol="0">
            <a:spAutoFit/>
          </a:bodyPr>
          <a:lstStyle/>
          <a:p>
            <a:r>
              <a:rPr lang="ar-JO" sz="1200" b="1" dirty="0">
                <a:solidFill>
                  <a:srgbClr val="1A3560"/>
                </a:solidFill>
                <a:latin typeface="Calibri" panose="020F0502020204030204" pitchFamily="34" charset="0"/>
                <a:ea typeface="Calibri" panose="020F0502020204030204" pitchFamily="34" charset="0"/>
                <a:cs typeface="Calibri" panose="020F0502020204030204" pitchFamily="34" charset="0"/>
              </a:rPr>
              <a:t>وإعداد الطالبات :-</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52E15EDF-E807-206F-5F57-A0BE64B08A27}"/>
              </a:ext>
            </a:extLst>
          </p:cNvPr>
          <p:cNvSpPr txBox="1"/>
          <p:nvPr/>
        </p:nvSpPr>
        <p:spPr>
          <a:xfrm>
            <a:off x="3046833" y="2134465"/>
            <a:ext cx="4575516" cy="307777"/>
          </a:xfrm>
          <a:prstGeom prst="rect">
            <a:avLst/>
          </a:prstGeom>
          <a:noFill/>
        </p:spPr>
        <p:txBody>
          <a:bodyPr wrap="square">
            <a:spAutoFit/>
          </a:bodyPr>
          <a:lstStyle/>
          <a:p>
            <a:r>
              <a:rPr lang="ar-JO" sz="1400" b="1" dirty="0">
                <a:solidFill>
                  <a:srgbClr val="1A3560"/>
                </a:solidFill>
                <a:latin typeface="Calibri" panose="020F0502020204030204" pitchFamily="34" charset="0"/>
                <a:ea typeface="Calibri" panose="020F0502020204030204" pitchFamily="34" charset="0"/>
                <a:cs typeface="Calibri" panose="020F0502020204030204" pitchFamily="34" charset="0"/>
              </a:rPr>
              <a:t>بإشراف :- د.خالد الخرابشة</a:t>
            </a:r>
            <a:endParaRPr lang="en-US" sz="1400" b="1" dirty="0">
              <a:latin typeface="Calibri" panose="020F0502020204030204" pitchFamily="34" charset="0"/>
              <a:ea typeface="Calibri" panose="020F0502020204030204" pitchFamily="34" charset="0"/>
              <a:cs typeface="Calibri" panose="020F0502020204030204" pitchFamily="34" charset="0"/>
            </a:endParaRPr>
          </a:p>
        </p:txBody>
      </p:sp>
      <p:pic>
        <p:nvPicPr>
          <p:cNvPr id="36" name="Picture 35">
            <a:extLst>
              <a:ext uri="{FF2B5EF4-FFF2-40B4-BE49-F238E27FC236}">
                <a16:creationId xmlns:a16="http://schemas.microsoft.com/office/drawing/2014/main" id="{C41BCA71-4DB5-EC8E-C26E-8F02B86ED7F1}"/>
              </a:ext>
            </a:extLst>
          </p:cNvPr>
          <p:cNvPicPr>
            <a:picLocks noChangeAspect="1"/>
          </p:cNvPicPr>
          <p:nvPr/>
        </p:nvPicPr>
        <p:blipFill>
          <a:blip r:embed="rId5"/>
          <a:srcRect b="7146"/>
          <a:stretch>
            <a:fillRect/>
          </a:stretch>
        </p:blipFill>
        <p:spPr>
          <a:xfrm>
            <a:off x="3977870" y="2840071"/>
            <a:ext cx="1240124" cy="131308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8" name="Picture 37">
            <a:extLst>
              <a:ext uri="{FF2B5EF4-FFF2-40B4-BE49-F238E27FC236}">
                <a16:creationId xmlns:a16="http://schemas.microsoft.com/office/drawing/2014/main" id="{3C0FB5AE-9CDB-9373-8C46-8273FE20DFF8}"/>
              </a:ext>
            </a:extLst>
          </p:cNvPr>
          <p:cNvPicPr>
            <a:picLocks noChangeAspect="1"/>
          </p:cNvPicPr>
          <p:nvPr/>
        </p:nvPicPr>
        <p:blipFill>
          <a:blip r:embed="rId6"/>
          <a:srcRect l="9878" t="3460" r="6513" b="7009"/>
          <a:stretch>
            <a:fillRect/>
          </a:stretch>
        </p:blipFill>
        <p:spPr>
          <a:xfrm>
            <a:off x="5447641" y="2829654"/>
            <a:ext cx="1262174" cy="135155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1" name="TextBox 40">
            <a:extLst>
              <a:ext uri="{FF2B5EF4-FFF2-40B4-BE49-F238E27FC236}">
                <a16:creationId xmlns:a16="http://schemas.microsoft.com/office/drawing/2014/main" id="{01DD4107-4ED9-48D1-ECCE-50A585A2E3C9}"/>
              </a:ext>
            </a:extLst>
          </p:cNvPr>
          <p:cNvSpPr txBox="1"/>
          <p:nvPr/>
        </p:nvSpPr>
        <p:spPr>
          <a:xfrm>
            <a:off x="5570488" y="4220541"/>
            <a:ext cx="1734555" cy="338554"/>
          </a:xfrm>
          <a:prstGeom prst="rect">
            <a:avLst/>
          </a:prstGeom>
          <a:noFill/>
        </p:spPr>
        <p:txBody>
          <a:bodyPr wrap="square" rtlCol="0">
            <a:spAutoFit/>
          </a:bodyPr>
          <a:lstStyle/>
          <a:p>
            <a:r>
              <a:rPr lang="ar-JO" sz="1600" b="1" dirty="0">
                <a:solidFill>
                  <a:srgbClr val="1A3560"/>
                </a:solidFill>
                <a:latin typeface="Calibri" panose="020F0502020204030204" pitchFamily="34" charset="0"/>
                <a:ea typeface="Calibri" panose="020F0502020204030204" pitchFamily="34" charset="0"/>
                <a:cs typeface="Calibri" panose="020F0502020204030204" pitchFamily="34" charset="0"/>
              </a:rPr>
              <a:t>شهد</a:t>
            </a:r>
            <a:r>
              <a:rPr lang="ar-JO" sz="1600" b="1" dirty="0">
                <a:solidFill>
                  <a:srgbClr val="1A3560"/>
                </a:solidFill>
                <a:latin typeface="Sakkal Majalla" panose="02000000000000000000" pitchFamily="2" charset="-78"/>
                <a:cs typeface="Sakkal Majalla" panose="02000000000000000000" pitchFamily="2" charset="-78"/>
              </a:rPr>
              <a:t> </a:t>
            </a:r>
            <a:r>
              <a:rPr lang="ar-JO" sz="1600" b="1" dirty="0">
                <a:solidFill>
                  <a:srgbClr val="1A3560"/>
                </a:solidFill>
                <a:latin typeface="Calibri" panose="020F0502020204030204" pitchFamily="34" charset="0"/>
                <a:ea typeface="Calibri" panose="020F0502020204030204" pitchFamily="34" charset="0"/>
                <a:cs typeface="Calibri" panose="020F0502020204030204" pitchFamily="34" charset="0"/>
              </a:rPr>
              <a:t>خريسات</a:t>
            </a:r>
            <a:endParaRPr lang="en-US" sz="1600" b="1" dirty="0">
              <a:solidFill>
                <a:srgbClr val="1A3560"/>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C1C63423-D3EB-8320-312B-D10C35C92433}"/>
              </a:ext>
            </a:extLst>
          </p:cNvPr>
          <p:cNvSpPr txBox="1"/>
          <p:nvPr/>
        </p:nvSpPr>
        <p:spPr>
          <a:xfrm>
            <a:off x="4223933" y="4227610"/>
            <a:ext cx="1367966" cy="338554"/>
          </a:xfrm>
          <a:prstGeom prst="rect">
            <a:avLst/>
          </a:prstGeom>
          <a:noFill/>
        </p:spPr>
        <p:txBody>
          <a:bodyPr wrap="square">
            <a:spAutoFit/>
          </a:bodyPr>
          <a:lstStyle/>
          <a:p>
            <a:r>
              <a:rPr lang="ar-JO" sz="1600" b="1" dirty="0">
                <a:solidFill>
                  <a:srgbClr val="1A3560"/>
                </a:solidFill>
                <a:latin typeface="Calibri" panose="020F0502020204030204" pitchFamily="34" charset="0"/>
                <a:ea typeface="Calibri" panose="020F0502020204030204" pitchFamily="34" charset="0"/>
                <a:cs typeface="Calibri" panose="020F0502020204030204" pitchFamily="34" charset="0"/>
              </a:rPr>
              <a:t>تالا غنيمات</a:t>
            </a:r>
          </a:p>
        </p:txBody>
      </p:sp>
      <p:pic>
        <p:nvPicPr>
          <p:cNvPr id="47" name="Picture 46">
            <a:extLst>
              <a:ext uri="{FF2B5EF4-FFF2-40B4-BE49-F238E27FC236}">
                <a16:creationId xmlns:a16="http://schemas.microsoft.com/office/drawing/2014/main" id="{0DC340FD-4FB6-7A39-7356-4072A50C0F0F}"/>
              </a:ext>
            </a:extLst>
          </p:cNvPr>
          <p:cNvPicPr>
            <a:picLocks noChangeAspect="1"/>
          </p:cNvPicPr>
          <p:nvPr/>
        </p:nvPicPr>
        <p:blipFill>
          <a:blip r:embed="rId7"/>
          <a:srcRect t="6952" b="27642"/>
          <a:stretch>
            <a:fillRect/>
          </a:stretch>
        </p:blipFill>
        <p:spPr>
          <a:xfrm>
            <a:off x="2385252" y="2838426"/>
            <a:ext cx="1240124" cy="134019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49" name="TextBox 48">
            <a:extLst>
              <a:ext uri="{FF2B5EF4-FFF2-40B4-BE49-F238E27FC236}">
                <a16:creationId xmlns:a16="http://schemas.microsoft.com/office/drawing/2014/main" id="{D13272B4-B48A-7EEE-1BDC-8996E25D6828}"/>
              </a:ext>
            </a:extLst>
          </p:cNvPr>
          <p:cNvSpPr txBox="1"/>
          <p:nvPr/>
        </p:nvSpPr>
        <p:spPr>
          <a:xfrm>
            <a:off x="2488978" y="4209598"/>
            <a:ext cx="1504967" cy="338554"/>
          </a:xfrm>
          <a:prstGeom prst="rect">
            <a:avLst/>
          </a:prstGeom>
          <a:noFill/>
        </p:spPr>
        <p:txBody>
          <a:bodyPr wrap="square">
            <a:spAutoFit/>
          </a:bodyPr>
          <a:lstStyle/>
          <a:p>
            <a:r>
              <a:rPr lang="ar-JO" sz="1600" b="1" dirty="0">
                <a:solidFill>
                  <a:srgbClr val="1A3560"/>
                </a:solidFill>
                <a:latin typeface="Calibri" panose="020F0502020204030204" pitchFamily="34" charset="0"/>
                <a:ea typeface="Calibri" panose="020F0502020204030204" pitchFamily="34" charset="0"/>
                <a:cs typeface="Calibri" panose="020F0502020204030204" pitchFamily="34" charset="0"/>
              </a:rPr>
              <a:t>تسنيم الشويات</a:t>
            </a:r>
          </a:p>
        </p:txBody>
      </p:sp>
      <p:pic>
        <p:nvPicPr>
          <p:cNvPr id="53" name="Picture 52">
            <a:extLst>
              <a:ext uri="{FF2B5EF4-FFF2-40B4-BE49-F238E27FC236}">
                <a16:creationId xmlns:a16="http://schemas.microsoft.com/office/drawing/2014/main" id="{20513FEB-71A0-1497-C874-AE97FCA6950C}"/>
              </a:ext>
            </a:extLst>
          </p:cNvPr>
          <p:cNvPicPr>
            <a:picLocks noChangeAspect="1"/>
          </p:cNvPicPr>
          <p:nvPr/>
        </p:nvPicPr>
        <p:blipFill>
          <a:blip r:embed="rId8"/>
          <a:srcRect l="22006" t="13567" r="14069" b="35453"/>
          <a:stretch>
            <a:fillRect/>
          </a:stretch>
        </p:blipFill>
        <p:spPr>
          <a:xfrm>
            <a:off x="771306" y="2809163"/>
            <a:ext cx="1293049" cy="1374902"/>
          </a:xfrm>
          <a:prstGeom prst="snip2DiagRect">
            <a:avLst>
              <a:gd name="adj1" fmla="val 0"/>
              <a:gd name="adj2" fmla="val 18678"/>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55" name="TextBox 54">
            <a:extLst>
              <a:ext uri="{FF2B5EF4-FFF2-40B4-BE49-F238E27FC236}">
                <a16:creationId xmlns:a16="http://schemas.microsoft.com/office/drawing/2014/main" id="{63AAD372-8CC2-C221-6C7F-0101D74B9726}"/>
              </a:ext>
            </a:extLst>
          </p:cNvPr>
          <p:cNvSpPr txBox="1"/>
          <p:nvPr/>
        </p:nvSpPr>
        <p:spPr>
          <a:xfrm>
            <a:off x="866536" y="4199454"/>
            <a:ext cx="1673410" cy="338554"/>
          </a:xfrm>
          <a:prstGeom prst="rect">
            <a:avLst/>
          </a:prstGeom>
          <a:noFill/>
        </p:spPr>
        <p:txBody>
          <a:bodyPr wrap="square">
            <a:spAutoFit/>
          </a:bodyPr>
          <a:lstStyle/>
          <a:p>
            <a:r>
              <a:rPr lang="ar-JO" sz="1600" b="1" dirty="0">
                <a:solidFill>
                  <a:srgbClr val="1A3560"/>
                </a:solidFill>
                <a:latin typeface="Calibri" panose="020F0502020204030204" pitchFamily="34" charset="0"/>
                <a:ea typeface="Calibri" panose="020F0502020204030204" pitchFamily="34" charset="0"/>
                <a:cs typeface="Calibri" panose="020F0502020204030204" pitchFamily="34" charset="0"/>
              </a:rPr>
              <a:t>جنان المحسيري</a:t>
            </a:r>
          </a:p>
        </p:txBody>
      </p:sp>
    </p:spTree>
    <p:extLst>
      <p:ext uri="{BB962C8B-B14F-4D97-AF65-F5344CB8AC3E}">
        <p14:creationId xmlns:p14="http://schemas.microsoft.com/office/powerpoint/2010/main" val="56211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1869" b="8208"/>
          <a:stretch>
            <a:fillRect/>
          </a:stretch>
        </p:blipFill>
        <p:spPr>
          <a:xfrm>
            <a:off x="6006904" y="0"/>
            <a:ext cx="3137095" cy="5143500"/>
          </a:xfrm>
          <a:prstGeom prst="rect">
            <a:avLst/>
          </a:prstGeom>
        </p:spPr>
      </p:pic>
      <p:sp>
        <p:nvSpPr>
          <p:cNvPr id="3" name="Text 0"/>
          <p:cNvSpPr/>
          <p:nvPr/>
        </p:nvSpPr>
        <p:spPr>
          <a:xfrm>
            <a:off x="1343584" y="154893"/>
            <a:ext cx="4125624" cy="440010"/>
          </a:xfrm>
          <a:prstGeom prst="rect">
            <a:avLst/>
          </a:prstGeom>
          <a:solidFill>
            <a:srgbClr val="0C0A33">
              <a:alpha val="43137"/>
            </a:srgbClr>
          </a:solidFill>
          <a:ln>
            <a:solidFill>
              <a:schemeClr val="tx1"/>
            </a:solidFill>
          </a:ln>
        </p:spPr>
        <p:style>
          <a:lnRef idx="0">
            <a:scrgbClr r="0" g="0" b="0"/>
          </a:lnRef>
          <a:fillRef idx="0">
            <a:scrgbClr r="0" g="0" b="0"/>
          </a:fillRef>
          <a:effectRef idx="0">
            <a:scrgbClr r="0" g="0" b="0"/>
          </a:effectRef>
          <a:fontRef idx="minor">
            <a:schemeClr val="lt1"/>
          </a:fontRef>
        </p:style>
        <p:txBody>
          <a:bodyPr wrap="none" lIns="0" tIns="0" rIns="0" bIns="0" rtlCol="0" anchor="t"/>
          <a:lstStyle/>
          <a:p>
            <a:pPr marL="0" indent="0" algn="ctr" rtl="1">
              <a:lnSpc>
                <a:spcPts val="3450"/>
              </a:lnSpc>
              <a:buNone/>
            </a:pPr>
            <a:r>
              <a:rPr lang="ar-JO" sz="2750" b="1" dirty="0">
                <a:solidFill>
                  <a:srgbClr val="1A3560"/>
                </a:solidFill>
                <a:latin typeface="Calibri" panose="020F0502020204030204" pitchFamily="34" charset="0"/>
                <a:ea typeface="Calibri" panose="020F0502020204030204" pitchFamily="34" charset="0"/>
                <a:cs typeface="Calibri" panose="020F0502020204030204" pitchFamily="34" charset="0"/>
              </a:rPr>
              <a:t>رؤية المشروع</a:t>
            </a:r>
            <a:endParaRPr lang="en-US" sz="2750" dirty="0">
              <a:solidFill>
                <a:srgbClr val="1A3560"/>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658623" y="4247239"/>
            <a:ext cx="1031974" cy="191393"/>
          </a:xfrm>
          <a:prstGeom prst="rect">
            <a:avLst/>
          </a:prstGeom>
          <a:noFill/>
          <a:ln/>
        </p:spPr>
        <p:txBody>
          <a:bodyPr wrap="none" lIns="0" tIns="0" rIns="0" bIns="0" rtlCol="0" anchor="t"/>
          <a:lstStyle/>
          <a:p>
            <a:pPr marL="0" indent="0" algn="l">
              <a:lnSpc>
                <a:spcPts val="1500"/>
              </a:lnSpc>
              <a:buNone/>
            </a:pPr>
            <a:endParaRPr lang="en-US" sz="900" b="1" dirty="0"/>
          </a:p>
        </p:txBody>
      </p:sp>
      <p:sp>
        <p:nvSpPr>
          <p:cNvPr id="11" name="TextBox 10">
            <a:extLst>
              <a:ext uri="{FF2B5EF4-FFF2-40B4-BE49-F238E27FC236}">
                <a16:creationId xmlns:a16="http://schemas.microsoft.com/office/drawing/2014/main" id="{FF060C7C-3F42-A32D-186F-1424A230527E}"/>
              </a:ext>
            </a:extLst>
          </p:cNvPr>
          <p:cNvSpPr txBox="1"/>
          <p:nvPr/>
        </p:nvSpPr>
        <p:spPr>
          <a:xfrm>
            <a:off x="839042" y="2571750"/>
            <a:ext cx="4487594" cy="1477328"/>
          </a:xfrm>
          <a:prstGeom prst="rect">
            <a:avLst/>
          </a:prstGeom>
          <a:noFill/>
        </p:spPr>
        <p:txBody>
          <a:bodyPr wrap="square" rtlCol="0">
            <a:spAutoFit/>
          </a:bodyPr>
          <a:lstStyle/>
          <a:p>
            <a:pPr algn="ctr"/>
            <a:r>
              <a:rPr lang="ar-JO" b="1" dirty="0">
                <a:solidFill>
                  <a:srgbClr val="1A3560"/>
                </a:solidFill>
                <a:latin typeface="Sakkal Majalla" panose="02000000000000000000" pitchFamily="2" charset="-78"/>
                <a:cs typeface="Sakkal Majalla" panose="02000000000000000000" pitchFamily="2" charset="-78"/>
              </a:rPr>
              <a:t>يمثل هذا المشروع حلقة وصل رقمية ذكية بين المواطن والجهات المسؤولة، حيث يهدف إلى تمكين الأفراد من رصد وتوثيق تحديات البنية التحتية بشكل فوري ودقيق. نسعى من خلال (عين المواطن) إلى تسخير التكنولوجيا لتحقيق استجابة أسرع، وضمان بيئة حضرية آمنة ومستدامة للجميع</a:t>
            </a:r>
            <a:endParaRPr lang="en-US" b="1" dirty="0">
              <a:solidFill>
                <a:srgbClr val="1A3560"/>
              </a:solidFill>
              <a:latin typeface="Sakkal Majalla" panose="02000000000000000000" pitchFamily="2" charset="-78"/>
              <a:cs typeface="Sakkal Majalla" panose="02000000000000000000" pitchFamily="2" charset="-78"/>
            </a:endParaRPr>
          </a:p>
        </p:txBody>
      </p:sp>
      <p:pic>
        <p:nvPicPr>
          <p:cNvPr id="13" name="Picture 12">
            <a:extLst>
              <a:ext uri="{FF2B5EF4-FFF2-40B4-BE49-F238E27FC236}">
                <a16:creationId xmlns:a16="http://schemas.microsoft.com/office/drawing/2014/main" id="{6A534015-D69D-EF4A-5CF1-5CE5C06E75A0}"/>
              </a:ext>
            </a:extLst>
          </p:cNvPr>
          <p:cNvPicPr>
            <a:picLocks noChangeAspect="1"/>
          </p:cNvPicPr>
          <p:nvPr/>
        </p:nvPicPr>
        <p:blipFill>
          <a:blip r:embed="rId4"/>
          <a:srcRect l="12752" t="20570" r="12773" b="27265"/>
          <a:stretch>
            <a:fillRect/>
          </a:stretch>
        </p:blipFill>
        <p:spPr>
          <a:xfrm>
            <a:off x="2600538" y="969248"/>
            <a:ext cx="1753451" cy="1228157"/>
          </a:xfrm>
          <a:prstGeom prst="rect">
            <a:avLst/>
          </a:prstGeom>
        </p:spPr>
      </p:pic>
      <p:pic>
        <p:nvPicPr>
          <p:cNvPr id="31" name="Graphic 30" descr="City with buildings and skyscrapers">
            <a:extLst>
              <a:ext uri="{FF2B5EF4-FFF2-40B4-BE49-F238E27FC236}">
                <a16:creationId xmlns:a16="http://schemas.microsoft.com/office/drawing/2014/main" id="{FABD32CF-079F-8554-B094-0DBBBDDBCE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340" y="3495043"/>
            <a:ext cx="2167876" cy="22180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63674" y="309488"/>
            <a:ext cx="3172892" cy="365109"/>
          </a:xfrm>
          <a:prstGeom prst="rect">
            <a:avLst/>
          </a:prstGeom>
          <a:solidFill>
            <a:srgbClr val="FFFFFF">
              <a:alpha val="29020"/>
            </a:srgbClr>
          </a:solidFill>
          <a:ln>
            <a:solidFill>
              <a:schemeClr val="tx1"/>
            </a:solidFill>
          </a:ln>
        </p:spPr>
        <p:txBody>
          <a:bodyPr wrap="none" lIns="0" tIns="0" rIns="0" bIns="0" rtlCol="0" anchor="t"/>
          <a:lstStyle/>
          <a:p>
            <a:pPr marL="0" indent="0" algn="ctr" rtl="1">
              <a:lnSpc>
                <a:spcPts val="2750"/>
              </a:lnSpc>
              <a:buNone/>
            </a:pPr>
            <a:r>
              <a:rPr lang="ar-JO" sz="2200" b="1" dirty="0">
                <a:solidFill>
                  <a:srgbClr val="FFFFFF"/>
                </a:solidFill>
                <a:latin typeface="Syne Bold"/>
              </a:rPr>
              <a:t>عين المواطن |</a:t>
            </a:r>
            <a:r>
              <a:rPr lang="en-US" sz="2200" b="1" dirty="0">
                <a:solidFill>
                  <a:srgbClr val="FFFFFF"/>
                </a:solidFill>
                <a:latin typeface="Syne Bold"/>
              </a:rPr>
              <a:t> </a:t>
            </a:r>
            <a:r>
              <a:rPr lang="ar-JO" sz="2200" b="1" dirty="0">
                <a:solidFill>
                  <a:srgbClr val="FFFFFF"/>
                </a:solidFill>
              </a:rPr>
              <a:t>تسجيل</a:t>
            </a:r>
            <a:r>
              <a:rPr lang="ar-JO" sz="2200" b="1" dirty="0">
                <a:solidFill>
                  <a:srgbClr val="FFFFFF"/>
                </a:solidFill>
                <a:latin typeface="Syne Bold"/>
              </a:rPr>
              <a:t> الدخول</a:t>
            </a:r>
            <a:endParaRPr lang="en-US" sz="2200" dirty="0">
              <a:latin typeface="Syne Bold"/>
            </a:endParaRPr>
          </a:p>
        </p:txBody>
      </p:sp>
      <p:pic>
        <p:nvPicPr>
          <p:cNvPr id="3" name="Image 0" descr="preencoded.png"/>
          <p:cNvPicPr>
            <a:picLocks noChangeAspect="1"/>
          </p:cNvPicPr>
          <p:nvPr/>
        </p:nvPicPr>
        <p:blipFill>
          <a:blip r:embed="rId3"/>
          <a:stretch>
            <a:fillRect/>
          </a:stretch>
        </p:blipFill>
        <p:spPr>
          <a:xfrm>
            <a:off x="700757" y="955402"/>
            <a:ext cx="3725763" cy="3725763"/>
          </a:xfrm>
          <a:prstGeom prst="rect">
            <a:avLst/>
          </a:prstGeom>
        </p:spPr>
      </p:pic>
      <p:pic>
        <p:nvPicPr>
          <p:cNvPr id="4" name="Image 1" descr="preencoded.png"/>
          <p:cNvPicPr>
            <a:picLocks noChangeAspect="1"/>
          </p:cNvPicPr>
          <p:nvPr/>
        </p:nvPicPr>
        <p:blipFill>
          <a:blip r:embed="rId4"/>
          <a:stretch>
            <a:fillRect/>
          </a:stretch>
        </p:blipFill>
        <p:spPr>
          <a:xfrm>
            <a:off x="700757" y="955402"/>
            <a:ext cx="3725763" cy="3725763"/>
          </a:xfrm>
          <a:prstGeom prst="rect">
            <a:avLst/>
          </a:prstGeom>
        </p:spPr>
      </p:pic>
      <p:sp>
        <p:nvSpPr>
          <p:cNvPr id="5" name="Text 1"/>
          <p:cNvSpPr/>
          <p:nvPr/>
        </p:nvSpPr>
        <p:spPr>
          <a:xfrm>
            <a:off x="6988798" y="1808708"/>
            <a:ext cx="1459058" cy="461336"/>
          </a:xfrm>
          <a:prstGeom prst="rect">
            <a:avLst/>
          </a:prstGeom>
          <a:noFill/>
          <a:ln/>
        </p:spPr>
        <p:txBody>
          <a:bodyPr wrap="none" lIns="0" tIns="0" rIns="0" bIns="0" rtlCol="0" anchor="t"/>
          <a:lstStyle/>
          <a:p>
            <a:pPr marL="0" indent="0" algn="r" rtl="1">
              <a:lnSpc>
                <a:spcPts val="1350"/>
              </a:lnSpc>
              <a:buNone/>
            </a:pPr>
            <a:r>
              <a:rPr lang="en-US" sz="1100" b="1" dirty="0">
                <a:solidFill>
                  <a:srgbClr val="FFFFFF"/>
                </a:solidFill>
                <a:latin typeface="Simplified Arabic" panose="02020603050405020304" pitchFamily="18" charset="-78"/>
                <a:ea typeface="Syne Bold" pitchFamily="34" charset="-122"/>
                <a:cs typeface="Simplified Arabic" panose="02020603050405020304" pitchFamily="18" charset="-78"/>
              </a:rPr>
              <a:t>لماذا الرقم الوطني؟</a:t>
            </a:r>
            <a:endParaRPr lang="en-US" sz="1100" dirty="0">
              <a:latin typeface="Simplified Arabic" panose="02020603050405020304" pitchFamily="18" charset="-78"/>
              <a:cs typeface="Simplified Arabic" panose="02020603050405020304" pitchFamily="18" charset="-78"/>
            </a:endParaRPr>
          </a:p>
        </p:txBody>
      </p:sp>
      <p:sp>
        <p:nvSpPr>
          <p:cNvPr id="6" name="Text 2"/>
          <p:cNvSpPr/>
          <p:nvPr/>
        </p:nvSpPr>
        <p:spPr>
          <a:xfrm>
            <a:off x="4572001" y="2078979"/>
            <a:ext cx="3875856" cy="901521"/>
          </a:xfrm>
          <a:prstGeom prst="rect">
            <a:avLst/>
          </a:prstGeom>
          <a:noFill/>
          <a:ln/>
        </p:spPr>
        <p:txBody>
          <a:bodyPr wrap="square" lIns="0" tIns="0" rIns="0" bIns="0" rtlCol="0" anchor="t"/>
          <a:lstStyle/>
          <a:p>
            <a:pPr marL="0" indent="0" algn="r" rtl="1">
              <a:lnSpc>
                <a:spcPts val="1300"/>
              </a:lnSpc>
              <a:buNone/>
            </a:pPr>
            <a:r>
              <a:rPr lang="en-US" sz="900" b="1" dirty="0">
                <a:solidFill>
                  <a:srgbClr val="D9E1FF"/>
                </a:solidFill>
                <a:latin typeface="Arimo" pitchFamily="34" charset="0"/>
                <a:ea typeface="Arimo" pitchFamily="34" charset="-122"/>
                <a:cs typeface="Arimo" pitchFamily="34" charset="-120"/>
              </a:rPr>
              <a:t>يضمن أن كل بلاغ مرتبط بمواطن حقيقي، يمنع الإساءة ويحفظ مصداقية المنصة أمام الجهات </a:t>
            </a:r>
            <a:r>
              <a:rPr lang="en-US" sz="900" b="1" dirty="0" err="1">
                <a:solidFill>
                  <a:srgbClr val="D9E1FF"/>
                </a:solidFill>
                <a:latin typeface="Arimo" pitchFamily="34" charset="0"/>
                <a:ea typeface="Arimo" pitchFamily="34" charset="-122"/>
                <a:cs typeface="Arimo" pitchFamily="34" charset="-120"/>
              </a:rPr>
              <a:t>الحكومية</a:t>
            </a:r>
            <a:r>
              <a:rPr lang="en-US" sz="900" b="1" dirty="0">
                <a:solidFill>
                  <a:srgbClr val="D9E1FF"/>
                </a:solidFill>
                <a:latin typeface="Arimo" pitchFamily="34" charset="0"/>
                <a:ea typeface="Arimo" pitchFamily="34" charset="-122"/>
                <a:cs typeface="Arimo" pitchFamily="34" charset="-120"/>
              </a:rPr>
              <a:t>.</a:t>
            </a:r>
            <a:endParaRPr lang="ar-JO" sz="900" b="1" dirty="0">
              <a:solidFill>
                <a:srgbClr val="D9E1FF"/>
              </a:solidFill>
              <a:latin typeface="Arimo" pitchFamily="34" charset="0"/>
              <a:ea typeface="Arimo" pitchFamily="34" charset="-122"/>
              <a:cs typeface="Arimo" pitchFamily="34" charset="-120"/>
            </a:endParaRPr>
          </a:p>
          <a:p>
            <a:pPr marL="0" indent="0" algn="r" rtl="1">
              <a:lnSpc>
                <a:spcPts val="1300"/>
              </a:lnSpc>
              <a:buNone/>
            </a:pPr>
            <a:r>
              <a:rPr lang="ar-JO" sz="900" b="1" dirty="0">
                <a:solidFill>
                  <a:srgbClr val="D9E1FF"/>
                </a:solidFill>
                <a:latin typeface="Arimo" pitchFamily="34" charset="0"/>
                <a:ea typeface="Arimo" pitchFamily="34" charset="-122"/>
              </a:rPr>
              <a:t>وللإستفاده من مميزاتها والنقاط بشكل كامل .</a:t>
            </a:r>
            <a:endParaRPr lang="en-US" sz="900" b="1" dirty="0"/>
          </a:p>
        </p:txBody>
      </p:sp>
      <p:sp>
        <p:nvSpPr>
          <p:cNvPr id="7" name="Text 3"/>
          <p:cNvSpPr/>
          <p:nvPr/>
        </p:nvSpPr>
        <p:spPr>
          <a:xfrm>
            <a:off x="6988798" y="2516535"/>
            <a:ext cx="1459058" cy="461336"/>
          </a:xfrm>
          <a:prstGeom prst="rect">
            <a:avLst/>
          </a:prstGeom>
          <a:noFill/>
          <a:ln/>
        </p:spPr>
        <p:txBody>
          <a:bodyPr wrap="none" lIns="0" tIns="0" rIns="0" bIns="0" rtlCol="0" anchor="t"/>
          <a:lstStyle/>
          <a:p>
            <a:pPr marL="0" indent="0" algn="r" rtl="1">
              <a:lnSpc>
                <a:spcPts val="1350"/>
              </a:lnSpc>
              <a:buNone/>
            </a:pPr>
            <a:r>
              <a:rPr lang="en-US" sz="1100" b="1" dirty="0" err="1">
                <a:solidFill>
                  <a:srgbClr val="FFFFFF"/>
                </a:solidFill>
                <a:latin typeface="Simplified Arabic" panose="02020603050405020304" pitchFamily="18" charset="-78"/>
                <a:ea typeface="Syne Bold" pitchFamily="34" charset="-122"/>
                <a:cs typeface="Simplified Arabic" panose="02020603050405020304" pitchFamily="18" charset="-78"/>
              </a:rPr>
              <a:t>وضع</a:t>
            </a:r>
            <a:r>
              <a:rPr lang="en-US" sz="1100" b="1" dirty="0">
                <a:solidFill>
                  <a:srgbClr val="FFFFFF"/>
                </a:solidFill>
                <a:latin typeface="Simplified Arabic" panose="02020603050405020304" pitchFamily="18" charset="-78"/>
                <a:ea typeface="Syne Bold" pitchFamily="34" charset="-122"/>
                <a:cs typeface="Simplified Arabic" panose="02020603050405020304" pitchFamily="18" charset="-78"/>
              </a:rPr>
              <a:t> </a:t>
            </a:r>
            <a:r>
              <a:rPr lang="en-US" sz="1100" b="1" dirty="0" err="1">
                <a:solidFill>
                  <a:srgbClr val="FFFFFF"/>
                </a:solidFill>
                <a:latin typeface="Simplified Arabic" panose="02020603050405020304" pitchFamily="18" charset="-78"/>
                <a:ea typeface="Syne Bold" pitchFamily="34" charset="-122"/>
                <a:cs typeface="Simplified Arabic" panose="02020603050405020304" pitchFamily="18" charset="-78"/>
              </a:rPr>
              <a:t>ال</a:t>
            </a:r>
            <a:r>
              <a:rPr lang="ar-JO" sz="1100" b="1" dirty="0">
                <a:solidFill>
                  <a:srgbClr val="FFFFFF"/>
                </a:solidFill>
                <a:latin typeface="Simplified Arabic" panose="02020603050405020304" pitchFamily="18" charset="-78"/>
                <a:ea typeface="Syne Bold" pitchFamily="34" charset="-122"/>
                <a:cs typeface="Simplified Arabic" panose="02020603050405020304" pitchFamily="18" charset="-78"/>
              </a:rPr>
              <a:t>زائر (ضيف)</a:t>
            </a:r>
            <a:endParaRPr lang="en-US" sz="1100" dirty="0">
              <a:latin typeface="Simplified Arabic" panose="02020603050405020304" pitchFamily="18" charset="-78"/>
              <a:cs typeface="Simplified Arabic" panose="02020603050405020304" pitchFamily="18" charset="-78"/>
            </a:endParaRPr>
          </a:p>
        </p:txBody>
      </p:sp>
      <p:sp>
        <p:nvSpPr>
          <p:cNvPr id="8" name="Text 4"/>
          <p:cNvSpPr/>
          <p:nvPr/>
        </p:nvSpPr>
        <p:spPr>
          <a:xfrm>
            <a:off x="4572001" y="2786806"/>
            <a:ext cx="3875856" cy="901521"/>
          </a:xfrm>
          <a:prstGeom prst="rect">
            <a:avLst/>
          </a:prstGeom>
          <a:noFill/>
          <a:ln/>
        </p:spPr>
        <p:txBody>
          <a:bodyPr wrap="square" lIns="0" tIns="0" rIns="0" bIns="0" rtlCol="0" anchor="t"/>
          <a:lstStyle/>
          <a:p>
            <a:pPr marL="0" indent="0" algn="r" rtl="1">
              <a:lnSpc>
                <a:spcPts val="1300"/>
              </a:lnSpc>
              <a:buNone/>
            </a:pPr>
            <a:r>
              <a:rPr lang="en-US" sz="900" b="1" dirty="0">
                <a:solidFill>
                  <a:srgbClr val="D9E1FF"/>
                </a:solidFill>
                <a:latin typeface="Arimo" pitchFamily="34" charset="0"/>
                <a:ea typeface="Arimo" pitchFamily="34" charset="-122"/>
                <a:cs typeface="Arimo" pitchFamily="34" charset="-120"/>
              </a:rPr>
              <a:t>يتيح للزوار الاطلاع على الإحصائيات وخرائط التوقعات وقصص النجاح دون الحاجة لتسجيل، مما </a:t>
            </a:r>
            <a:r>
              <a:rPr lang="en-US" sz="900" b="1" dirty="0" err="1">
                <a:solidFill>
                  <a:srgbClr val="D9E1FF"/>
                </a:solidFill>
                <a:latin typeface="Arimo" pitchFamily="34" charset="0"/>
                <a:ea typeface="Arimo" pitchFamily="34" charset="-122"/>
                <a:cs typeface="Arimo" pitchFamily="34" charset="-120"/>
              </a:rPr>
              <a:t>يعزز</a:t>
            </a:r>
            <a:r>
              <a:rPr lang="en-US" sz="900" b="1" dirty="0">
                <a:solidFill>
                  <a:srgbClr val="D9E1FF"/>
                </a:solidFill>
                <a:latin typeface="Arimo" pitchFamily="34" charset="0"/>
                <a:ea typeface="Arimo" pitchFamily="34" charset="-122"/>
                <a:cs typeface="Arimo" pitchFamily="34" charset="-120"/>
              </a:rPr>
              <a:t> </a:t>
            </a:r>
            <a:r>
              <a:rPr lang="en-US" sz="900" b="1" dirty="0" err="1">
                <a:solidFill>
                  <a:srgbClr val="D9E1FF"/>
                </a:solidFill>
                <a:latin typeface="Arimo" pitchFamily="34" charset="0"/>
                <a:ea typeface="Arimo" pitchFamily="34" charset="-122"/>
                <a:cs typeface="Arimo" pitchFamily="34" charset="-120"/>
              </a:rPr>
              <a:t>الشفافية</a:t>
            </a:r>
            <a:r>
              <a:rPr lang="ar-JO" sz="900" b="1" dirty="0">
                <a:solidFill>
                  <a:srgbClr val="D9E1FF"/>
                </a:solidFill>
                <a:latin typeface="Arimo" pitchFamily="34" charset="0"/>
                <a:ea typeface="Arimo" pitchFamily="34" charset="-122"/>
                <a:cs typeface="Arimo" pitchFamily="34" charset="-120"/>
              </a:rPr>
              <a:t> وإمكانية تقديم بلاغ سريع ثم التسجيل فيما بعد  .</a:t>
            </a:r>
            <a:endParaRPr lang="en-US" sz="900" b="1" dirty="0"/>
          </a:p>
        </p:txBody>
      </p:sp>
      <p:sp>
        <p:nvSpPr>
          <p:cNvPr id="9" name="Text 5"/>
          <p:cNvSpPr/>
          <p:nvPr/>
        </p:nvSpPr>
        <p:spPr>
          <a:xfrm>
            <a:off x="6988798" y="3224361"/>
            <a:ext cx="1459058" cy="461336"/>
          </a:xfrm>
          <a:prstGeom prst="rect">
            <a:avLst/>
          </a:prstGeom>
          <a:noFill/>
          <a:ln/>
        </p:spPr>
        <p:txBody>
          <a:bodyPr wrap="none" lIns="0" tIns="0" rIns="0" bIns="0" rtlCol="0" anchor="t"/>
          <a:lstStyle/>
          <a:p>
            <a:pPr marL="0" indent="0" algn="r" rtl="1">
              <a:lnSpc>
                <a:spcPts val="1350"/>
              </a:lnSpc>
              <a:buNone/>
            </a:pPr>
            <a:r>
              <a:rPr lang="en-US" sz="1400" b="1" dirty="0">
                <a:solidFill>
                  <a:srgbClr val="FFFFFF"/>
                </a:solidFill>
                <a:latin typeface="Sakkal Majalla" panose="02000000000000000000" pitchFamily="2" charset="-78"/>
                <a:ea typeface="Syne Bold" pitchFamily="34" charset="-122"/>
                <a:cs typeface="Sakkal Majalla" panose="02000000000000000000" pitchFamily="2" charset="-78"/>
              </a:rPr>
              <a:t>الدخول التجريبي</a:t>
            </a:r>
            <a:endParaRPr lang="en-US" sz="1400" dirty="0">
              <a:latin typeface="Sakkal Majalla" panose="02000000000000000000" pitchFamily="2" charset="-78"/>
              <a:cs typeface="Sakkal Majalla" panose="02000000000000000000" pitchFamily="2" charset="-78"/>
            </a:endParaRPr>
          </a:p>
        </p:txBody>
      </p:sp>
      <p:sp>
        <p:nvSpPr>
          <p:cNvPr id="10" name="Text 6"/>
          <p:cNvSpPr/>
          <p:nvPr/>
        </p:nvSpPr>
        <p:spPr>
          <a:xfrm>
            <a:off x="4572001" y="3494632"/>
            <a:ext cx="3875856" cy="901521"/>
          </a:xfrm>
          <a:prstGeom prst="rect">
            <a:avLst/>
          </a:prstGeom>
          <a:noFill/>
          <a:ln/>
        </p:spPr>
        <p:txBody>
          <a:bodyPr wrap="square" lIns="0" tIns="0" rIns="0" bIns="0" rtlCol="0" anchor="t"/>
          <a:lstStyle/>
          <a:p>
            <a:pPr marL="0" indent="0" algn="r" rtl="1">
              <a:lnSpc>
                <a:spcPts val="1300"/>
              </a:lnSpc>
              <a:buNone/>
            </a:pPr>
            <a:r>
              <a:rPr lang="en-US" sz="900" b="1" dirty="0">
                <a:solidFill>
                  <a:srgbClr val="D9E1FF"/>
                </a:solidFill>
                <a:latin typeface="Arimo" pitchFamily="34" charset="0"/>
                <a:ea typeface="Arimo" pitchFamily="34" charset="-122"/>
                <a:cs typeface="Arimo" pitchFamily="34" charset="-120"/>
              </a:rPr>
              <a:t>بيئة محاكاة كاملة مثالية لعرض المسؤولين والمقيّمين، تُظهر المنصة بكامل ميزاتها.</a:t>
            </a:r>
            <a:r>
              <a:rPr lang="ar-JO" sz="900" b="1" dirty="0">
                <a:solidFill>
                  <a:srgbClr val="D9E1FF"/>
                </a:solidFill>
                <a:latin typeface="Arimo" pitchFamily="34" charset="0"/>
                <a:ea typeface="Arimo" pitchFamily="34" charset="-122"/>
                <a:cs typeface="Arimo" pitchFamily="34" charset="-120"/>
              </a:rPr>
              <a:t> لكن دون القدرة على التفاعل او تقديم بلاغ </a:t>
            </a:r>
            <a:endParaRPr lang="en-US" sz="9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811810" y="395883"/>
            <a:ext cx="3520306" cy="440010"/>
          </a:xfrm>
          <a:prstGeom prst="rect">
            <a:avLst/>
          </a:prstGeom>
          <a:noFill/>
          <a:ln>
            <a:solidFill>
              <a:schemeClr val="accent1"/>
            </a:solidFill>
          </a:ln>
        </p:spPr>
        <p:txBody>
          <a:bodyPr wrap="none" lIns="0" tIns="0" rIns="0" bIns="0" rtlCol="0" anchor="t"/>
          <a:lstStyle/>
          <a:p>
            <a:pPr marL="0" indent="0" algn="ctr" rtl="1">
              <a:lnSpc>
                <a:spcPts val="3450"/>
              </a:lnSpc>
              <a:buNone/>
            </a:pPr>
            <a:r>
              <a:rPr lang="en-US" sz="2750" b="1" dirty="0">
                <a:solidFill>
                  <a:srgbClr val="1A3560"/>
                </a:solidFill>
                <a:latin typeface="Sakkal Majalla" panose="02000000000000000000" pitchFamily="2" charset="-78"/>
                <a:ea typeface="Syne Bold" pitchFamily="34" charset="-122"/>
                <a:cs typeface="Sakkal Majalla" panose="02000000000000000000" pitchFamily="2" charset="-78"/>
              </a:rPr>
              <a:t>الصفحة الرئيسية</a:t>
            </a:r>
            <a:endParaRPr lang="en-US" sz="2750" dirty="0">
              <a:solidFill>
                <a:srgbClr val="1A3560"/>
              </a:solidFill>
              <a:latin typeface="Sakkal Majalla" panose="02000000000000000000" pitchFamily="2" charset="-78"/>
              <a:cs typeface="Sakkal Majalla" panose="02000000000000000000" pitchFamily="2" charset="-78"/>
            </a:endParaRPr>
          </a:p>
        </p:txBody>
      </p:sp>
      <p:sp>
        <p:nvSpPr>
          <p:cNvPr id="3" name="Text 1"/>
          <p:cNvSpPr/>
          <p:nvPr/>
        </p:nvSpPr>
        <p:spPr>
          <a:xfrm>
            <a:off x="448791" y="1153527"/>
            <a:ext cx="8096845" cy="239390"/>
          </a:xfrm>
          <a:prstGeom prst="rect">
            <a:avLst/>
          </a:prstGeom>
          <a:noFill/>
          <a:ln/>
        </p:spPr>
        <p:txBody>
          <a:bodyPr wrap="none" lIns="0" tIns="0" rIns="0" bIns="0" rtlCol="0" anchor="t"/>
          <a:lstStyle/>
          <a:p>
            <a:pPr marL="0" indent="0" algn="ctr" rtl="1">
              <a:lnSpc>
                <a:spcPts val="1850"/>
              </a:lnSpc>
              <a:buNone/>
            </a:pPr>
            <a:r>
              <a:rPr lang="en-US" sz="1150" dirty="0">
                <a:solidFill>
                  <a:srgbClr val="1A3560"/>
                </a:solidFill>
                <a:latin typeface="Arimo" pitchFamily="34" charset="0"/>
                <a:ea typeface="Arimo" pitchFamily="34" charset="-122"/>
                <a:cs typeface="Arimo" pitchFamily="34" charset="-120"/>
              </a:rPr>
              <a:t>مركز القيادة الذي يعرض إحصائيات حية وآخر البلاغات المحلولة</a:t>
            </a:r>
            <a:endParaRPr lang="en-US" sz="1150" dirty="0">
              <a:solidFill>
                <a:srgbClr val="1A3560"/>
              </a:solidFill>
            </a:endParaRPr>
          </a:p>
        </p:txBody>
      </p:sp>
      <p:sp>
        <p:nvSpPr>
          <p:cNvPr id="4" name="Shape 2"/>
          <p:cNvSpPr/>
          <p:nvPr/>
        </p:nvSpPr>
        <p:spPr>
          <a:xfrm>
            <a:off x="4446767" y="1808484"/>
            <a:ext cx="4024084" cy="1146479"/>
          </a:xfrm>
          <a:prstGeom prst="roundRect">
            <a:avLst>
              <a:gd name="adj" fmla="val 2063"/>
            </a:avLst>
          </a:prstGeom>
          <a:solidFill>
            <a:srgbClr val="2B2952"/>
          </a:solidFill>
          <a:ln>
            <a:solidFill>
              <a:schemeClr val="bg1"/>
            </a:solidFill>
          </a:ln>
        </p:spPr>
        <p:txBody>
          <a:bodyPr/>
          <a:lstStyle/>
          <a:p>
            <a:pPr rtl="1"/>
            <a:endParaRPr lang="ar-JO" sz="1100" dirty="0">
              <a:solidFill>
                <a:srgbClr val="B6BCDC"/>
              </a:solidFill>
              <a:effectLst/>
              <a:latin typeface="Arimo" panose="020B0604020202020204" charset="0"/>
              <a:ea typeface="Arimo" panose="020B0604020202020204" charset="0"/>
            </a:endParaRPr>
          </a:p>
        </p:txBody>
      </p:sp>
      <p:sp>
        <p:nvSpPr>
          <p:cNvPr id="5" name="Text 3"/>
          <p:cNvSpPr/>
          <p:nvPr/>
        </p:nvSpPr>
        <p:spPr>
          <a:xfrm>
            <a:off x="6538817" y="1929570"/>
            <a:ext cx="1782461" cy="231869"/>
          </a:xfrm>
          <a:prstGeom prst="rect">
            <a:avLst/>
          </a:prstGeom>
          <a:noFill/>
          <a:ln/>
        </p:spPr>
        <p:txBody>
          <a:bodyPr wrap="none" lIns="0" tIns="0" rIns="0" bIns="0" rtlCol="0" anchor="t"/>
          <a:lstStyle/>
          <a:p>
            <a:pPr marL="0" indent="0" algn="r" rtl="1">
              <a:lnSpc>
                <a:spcPts val="1700"/>
              </a:lnSpc>
              <a:buNone/>
            </a:pPr>
            <a:r>
              <a:rPr lang="ar-JO" sz="1600" b="1" dirty="0">
                <a:solidFill>
                  <a:srgbClr val="D9E1FF"/>
                </a:solidFill>
                <a:latin typeface="Sakkal Majalla" panose="02000000000000000000" pitchFamily="2" charset="-78"/>
                <a:ea typeface="Syne Bold" pitchFamily="34" charset="-122"/>
                <a:cs typeface="Sakkal Majalla" panose="02000000000000000000" pitchFamily="2" charset="-78"/>
              </a:rPr>
              <a:t>طريقة استخدام المنصة</a:t>
            </a:r>
            <a:endParaRPr lang="en-US" sz="1600" dirty="0">
              <a:latin typeface="Sakkal Majalla" panose="02000000000000000000" pitchFamily="2" charset="-78"/>
              <a:cs typeface="Sakkal Majalla" panose="02000000000000000000" pitchFamily="2" charset="-78"/>
            </a:endParaRPr>
          </a:p>
        </p:txBody>
      </p:sp>
      <p:sp>
        <p:nvSpPr>
          <p:cNvPr id="7" name="Shape 5"/>
          <p:cNvSpPr/>
          <p:nvPr/>
        </p:nvSpPr>
        <p:spPr>
          <a:xfrm>
            <a:off x="323558" y="1808484"/>
            <a:ext cx="4024084" cy="1146479"/>
          </a:xfrm>
          <a:prstGeom prst="roundRect">
            <a:avLst>
              <a:gd name="adj" fmla="val 2063"/>
            </a:avLst>
          </a:prstGeom>
          <a:solidFill>
            <a:srgbClr val="2B2952"/>
          </a:solidFill>
          <a:ln>
            <a:solidFill>
              <a:schemeClr val="bg1"/>
            </a:solidFill>
          </a:ln>
        </p:spPr>
        <p:txBody>
          <a:bodyPr/>
          <a:lstStyle/>
          <a:p>
            <a:endParaRPr lang="en-US" dirty="0"/>
          </a:p>
        </p:txBody>
      </p:sp>
      <p:sp>
        <p:nvSpPr>
          <p:cNvPr id="8" name="Text 6"/>
          <p:cNvSpPr/>
          <p:nvPr/>
        </p:nvSpPr>
        <p:spPr>
          <a:xfrm>
            <a:off x="2415608" y="1958056"/>
            <a:ext cx="1782461" cy="231869"/>
          </a:xfrm>
          <a:prstGeom prst="rect">
            <a:avLst/>
          </a:prstGeom>
          <a:noFill/>
          <a:ln/>
        </p:spPr>
        <p:txBody>
          <a:bodyPr wrap="none" lIns="0" tIns="0" rIns="0" bIns="0" rtlCol="0" anchor="t"/>
          <a:lstStyle/>
          <a:p>
            <a:pPr marL="0" indent="0" algn="r" rtl="1">
              <a:lnSpc>
                <a:spcPts val="1700"/>
              </a:lnSpc>
              <a:buNone/>
            </a:pPr>
            <a:r>
              <a:rPr lang="en-US" sz="1600" b="1" dirty="0">
                <a:solidFill>
                  <a:srgbClr val="D9E1FF"/>
                </a:solidFill>
                <a:latin typeface="Sakkal Majalla" panose="02000000000000000000" pitchFamily="2" charset="-78"/>
                <a:ea typeface="Syne Bold" pitchFamily="34" charset="-122"/>
                <a:cs typeface="Sakkal Majalla" panose="02000000000000000000" pitchFamily="2" charset="-78"/>
              </a:rPr>
              <a:t>توقعات الضغط</a:t>
            </a:r>
            <a:endParaRPr lang="en-US" sz="1600" b="1" dirty="0">
              <a:latin typeface="Sakkal Majalla" panose="02000000000000000000" pitchFamily="2" charset="-78"/>
              <a:cs typeface="Sakkal Majalla" panose="02000000000000000000" pitchFamily="2" charset="-78"/>
            </a:endParaRPr>
          </a:p>
        </p:txBody>
      </p:sp>
      <p:sp>
        <p:nvSpPr>
          <p:cNvPr id="9" name="Text 7"/>
          <p:cNvSpPr/>
          <p:nvPr/>
        </p:nvSpPr>
        <p:spPr>
          <a:xfrm>
            <a:off x="476928" y="2228134"/>
            <a:ext cx="3721141" cy="504683"/>
          </a:xfrm>
          <a:prstGeom prst="rect">
            <a:avLst/>
          </a:prstGeom>
          <a:noFill/>
          <a:ln/>
        </p:spPr>
        <p:txBody>
          <a:bodyPr wrap="square" lIns="0" tIns="0" rIns="0" bIns="0" rtlCol="0" anchor="t"/>
          <a:lstStyle/>
          <a:p>
            <a:pPr algn="r" rtl="1"/>
            <a:r>
              <a:rPr lang="ar-JO" sz="1150" dirty="0">
                <a:solidFill>
                  <a:srgbClr val="D9E1FF"/>
                </a:solidFill>
                <a:latin typeface="Arimo" pitchFamily="34" charset="0"/>
                <a:ea typeface="Arimo" pitchFamily="34" charset="-122"/>
                <a:cs typeface="Arimo" pitchFamily="34" charset="-120"/>
              </a:rPr>
              <a:t>تقرير ي</a:t>
            </a:r>
            <a:r>
              <a:rPr lang="en-US" sz="1150" dirty="0">
                <a:solidFill>
                  <a:srgbClr val="D9E1FF"/>
                </a:solidFill>
                <a:latin typeface="Arimo" pitchFamily="34" charset="0"/>
                <a:ea typeface="Arimo" pitchFamily="34" charset="-122"/>
                <a:cs typeface="Arimo" pitchFamily="34" charset="-120"/>
              </a:rPr>
              <a:t>كشف المناطق عالية الخطورة بناءً على بيانات موسمية وتاريخية</a:t>
            </a:r>
            <a:r>
              <a:rPr lang="ar-JO" sz="1150" dirty="0">
                <a:solidFill>
                  <a:srgbClr val="D9E1FF"/>
                </a:solidFill>
                <a:latin typeface="Arimo" pitchFamily="34" charset="0"/>
                <a:ea typeface="Arimo" pitchFamily="34" charset="-122"/>
                <a:cs typeface="Arimo" pitchFamily="34" charset="-120"/>
              </a:rPr>
              <a:t> </a:t>
            </a:r>
          </a:p>
          <a:p>
            <a:pPr algn="r" rtl="1"/>
            <a:r>
              <a:rPr lang="ar-JO" sz="1150" dirty="0">
                <a:solidFill>
                  <a:srgbClr val="D9E1FF"/>
                </a:solidFill>
                <a:latin typeface="Arimo" pitchFamily="34" charset="0"/>
                <a:ea typeface="Arimo" pitchFamily="34" charset="-122"/>
                <a:cs typeface="Arimo" pitchFamily="34" charset="-120"/>
              </a:rPr>
              <a:t>و</a:t>
            </a:r>
            <a:r>
              <a:rPr lang="en-US" sz="1150" dirty="0">
                <a:solidFill>
                  <a:srgbClr val="D9E1FF"/>
                </a:solidFill>
                <a:latin typeface="Arimo" pitchFamily="34" charset="0"/>
                <a:ea typeface="Arimo" pitchFamily="34" charset="-122"/>
                <a:cs typeface="Arimo" pitchFamily="34" charset="-120"/>
              </a:rPr>
              <a:t>تحليلات تنبؤية لصيانة استباقية وتخصيص أمثل للموارد</a:t>
            </a:r>
            <a:endParaRPr lang="en-US" sz="1150" dirty="0"/>
          </a:p>
          <a:p>
            <a:pPr marL="0" indent="0" algn="r" rtl="1">
              <a:lnSpc>
                <a:spcPts val="1850"/>
              </a:lnSpc>
              <a:buNone/>
            </a:pPr>
            <a:endParaRPr lang="en-US" sz="1150" dirty="0"/>
          </a:p>
        </p:txBody>
      </p:sp>
      <p:sp>
        <p:nvSpPr>
          <p:cNvPr id="10" name="Shape 8"/>
          <p:cNvSpPr/>
          <p:nvPr/>
        </p:nvSpPr>
        <p:spPr>
          <a:xfrm>
            <a:off x="4446767" y="3077844"/>
            <a:ext cx="4024084" cy="1146479"/>
          </a:xfrm>
          <a:prstGeom prst="roundRect">
            <a:avLst>
              <a:gd name="adj" fmla="val 2063"/>
            </a:avLst>
          </a:prstGeom>
          <a:solidFill>
            <a:srgbClr val="2B2952"/>
          </a:solidFill>
          <a:ln>
            <a:solidFill>
              <a:schemeClr val="bg1"/>
            </a:solidFill>
          </a:ln>
        </p:spPr>
        <p:txBody>
          <a:bodyPr/>
          <a:lstStyle/>
          <a:p>
            <a:endParaRPr lang="en-US" dirty="0"/>
          </a:p>
        </p:txBody>
      </p:sp>
      <p:sp>
        <p:nvSpPr>
          <p:cNvPr id="11" name="Text 9"/>
          <p:cNvSpPr/>
          <p:nvPr/>
        </p:nvSpPr>
        <p:spPr>
          <a:xfrm>
            <a:off x="6538817" y="3195264"/>
            <a:ext cx="1782461" cy="231869"/>
          </a:xfrm>
          <a:prstGeom prst="rect">
            <a:avLst/>
          </a:prstGeom>
          <a:noFill/>
          <a:ln/>
        </p:spPr>
        <p:txBody>
          <a:bodyPr wrap="none" lIns="0" tIns="0" rIns="0" bIns="0" rtlCol="0" anchor="t"/>
          <a:lstStyle/>
          <a:p>
            <a:pPr marL="0" indent="0" algn="r" rtl="1">
              <a:lnSpc>
                <a:spcPts val="1700"/>
              </a:lnSpc>
              <a:buNone/>
            </a:pPr>
            <a:r>
              <a:rPr lang="en-US" sz="1600" b="1" dirty="0">
                <a:solidFill>
                  <a:srgbClr val="D9E1FF"/>
                </a:solidFill>
                <a:latin typeface="Sakkal Majalla" panose="02000000000000000000" pitchFamily="2" charset="-78"/>
                <a:ea typeface="Syne Bold" pitchFamily="34" charset="-122"/>
                <a:cs typeface="Sakkal Majalla" panose="02000000000000000000" pitchFamily="2" charset="-78"/>
              </a:rPr>
              <a:t>ما يقوله جي</a:t>
            </a:r>
            <a:r>
              <a:rPr lang="ar-JO" sz="1600" b="1" dirty="0">
                <a:solidFill>
                  <a:srgbClr val="D9E1FF"/>
                </a:solidFill>
                <a:latin typeface="Sakkal Majalla" panose="02000000000000000000" pitchFamily="2" charset="-78"/>
                <a:ea typeface="Syne Bold" pitchFamily="34" charset="-122"/>
                <a:cs typeface="Sakkal Majalla" panose="02000000000000000000" pitchFamily="2" charset="-78"/>
              </a:rPr>
              <a:t>را</a:t>
            </a:r>
            <a:r>
              <a:rPr lang="en-US" sz="1600" b="1" dirty="0" err="1">
                <a:solidFill>
                  <a:srgbClr val="D9E1FF"/>
                </a:solidFill>
                <a:latin typeface="Sakkal Majalla" panose="02000000000000000000" pitchFamily="2" charset="-78"/>
                <a:ea typeface="Syne Bold" pitchFamily="34" charset="-122"/>
                <a:cs typeface="Sakkal Majalla" panose="02000000000000000000" pitchFamily="2" charset="-78"/>
              </a:rPr>
              <a:t>نك</a:t>
            </a:r>
            <a:endParaRPr lang="en-US" sz="1600" dirty="0">
              <a:latin typeface="Sakkal Majalla" panose="02000000000000000000" pitchFamily="2" charset="-78"/>
              <a:cs typeface="Sakkal Majalla" panose="02000000000000000000" pitchFamily="2" charset="-78"/>
            </a:endParaRPr>
          </a:p>
        </p:txBody>
      </p:sp>
      <p:sp>
        <p:nvSpPr>
          <p:cNvPr id="12" name="Text 10"/>
          <p:cNvSpPr/>
          <p:nvPr/>
        </p:nvSpPr>
        <p:spPr>
          <a:xfrm>
            <a:off x="4600137" y="3384932"/>
            <a:ext cx="3721141" cy="504683"/>
          </a:xfrm>
          <a:prstGeom prst="rect">
            <a:avLst/>
          </a:prstGeom>
          <a:noFill/>
          <a:ln/>
        </p:spPr>
        <p:txBody>
          <a:bodyPr wrap="square" lIns="0" tIns="0" rIns="0" bIns="0" rtlCol="0" anchor="t"/>
          <a:lstStyle/>
          <a:p>
            <a:pPr marL="0" indent="0" algn="r" rtl="1">
              <a:lnSpc>
                <a:spcPts val="1850"/>
              </a:lnSpc>
              <a:buNone/>
            </a:pPr>
            <a:r>
              <a:rPr lang="en-US" sz="1150" dirty="0">
                <a:solidFill>
                  <a:srgbClr val="D9E1FF"/>
                </a:solidFill>
                <a:latin typeface="Arimo" pitchFamily="34" charset="0"/>
                <a:ea typeface="Arimo" pitchFamily="34" charset="-122"/>
                <a:cs typeface="Arimo" pitchFamily="34" charset="-120"/>
              </a:rPr>
              <a:t>تغذية مجتمعية تعرض شهادات السكان وقصص النجاح </a:t>
            </a:r>
            <a:r>
              <a:rPr lang="en-US" sz="1150" dirty="0" err="1">
                <a:solidFill>
                  <a:srgbClr val="D9E1FF"/>
                </a:solidFill>
                <a:latin typeface="Arimo" pitchFamily="34" charset="0"/>
                <a:ea typeface="Arimo" pitchFamily="34" charset="-122"/>
                <a:cs typeface="Arimo" pitchFamily="34" charset="-120"/>
              </a:rPr>
              <a:t>لتشجيع</a:t>
            </a:r>
            <a:r>
              <a:rPr lang="en-US" sz="1150" dirty="0">
                <a:solidFill>
                  <a:srgbClr val="D9E1FF"/>
                </a:solidFill>
                <a:latin typeface="Arimo" pitchFamily="34" charset="0"/>
                <a:ea typeface="Arimo" pitchFamily="34" charset="-122"/>
                <a:cs typeface="Arimo" pitchFamily="34" charset="-120"/>
              </a:rPr>
              <a:t> </a:t>
            </a:r>
            <a:r>
              <a:rPr lang="en-US" sz="1150" dirty="0" err="1">
                <a:solidFill>
                  <a:srgbClr val="D9E1FF"/>
                </a:solidFill>
                <a:latin typeface="Arimo" pitchFamily="34" charset="0"/>
                <a:ea typeface="Arimo" pitchFamily="34" charset="-122"/>
                <a:cs typeface="Arimo" pitchFamily="34" charset="-120"/>
              </a:rPr>
              <a:t>المشاركة</a:t>
            </a:r>
            <a:endParaRPr lang="ar-JO" sz="1150" dirty="0">
              <a:solidFill>
                <a:srgbClr val="D9E1FF"/>
              </a:solidFill>
              <a:latin typeface="Arimo" pitchFamily="34" charset="0"/>
              <a:ea typeface="Arimo" pitchFamily="34" charset="-122"/>
              <a:cs typeface="Arimo" pitchFamily="34" charset="-120"/>
            </a:endParaRPr>
          </a:p>
          <a:p>
            <a:pPr marL="0" indent="0" algn="r" rtl="1">
              <a:lnSpc>
                <a:spcPts val="1850"/>
              </a:lnSpc>
              <a:buNone/>
            </a:pPr>
            <a:r>
              <a:rPr lang="ar-JO" sz="1150" dirty="0">
                <a:solidFill>
                  <a:srgbClr val="D9E1FF"/>
                </a:solidFill>
                <a:latin typeface="Arimo" pitchFamily="34" charset="0"/>
                <a:ea typeface="Arimo" pitchFamily="34" charset="-122"/>
                <a:cs typeface="Arimo" pitchFamily="34" charset="-120"/>
              </a:rPr>
              <a:t>وتقييم لكل تجربة المواطنين</a:t>
            </a:r>
            <a:r>
              <a:rPr lang="en-US" sz="1150" dirty="0">
                <a:solidFill>
                  <a:srgbClr val="D9E1FF"/>
                </a:solidFill>
                <a:latin typeface="Arimo" pitchFamily="34" charset="0"/>
                <a:ea typeface="Arimo" pitchFamily="34" charset="-122"/>
                <a:cs typeface="Arimo" pitchFamily="34" charset="-120"/>
              </a:rPr>
              <a:t>.</a:t>
            </a:r>
            <a:endParaRPr lang="en-US" sz="1150" dirty="0"/>
          </a:p>
        </p:txBody>
      </p:sp>
      <p:sp>
        <p:nvSpPr>
          <p:cNvPr id="13" name="Shape 11"/>
          <p:cNvSpPr/>
          <p:nvPr/>
        </p:nvSpPr>
        <p:spPr>
          <a:xfrm>
            <a:off x="323558" y="3045692"/>
            <a:ext cx="4024084" cy="1146479"/>
          </a:xfrm>
          <a:prstGeom prst="roundRect">
            <a:avLst>
              <a:gd name="adj" fmla="val 2063"/>
            </a:avLst>
          </a:prstGeom>
          <a:solidFill>
            <a:srgbClr val="2B2952"/>
          </a:solidFill>
          <a:ln>
            <a:solidFill>
              <a:schemeClr val="bg1"/>
            </a:solidFill>
          </a:ln>
        </p:spPr>
        <p:txBody>
          <a:bodyPr/>
          <a:lstStyle/>
          <a:p>
            <a:endParaRPr lang="en-US"/>
          </a:p>
        </p:txBody>
      </p:sp>
      <p:sp>
        <p:nvSpPr>
          <p:cNvPr id="14" name="Text 12"/>
          <p:cNvSpPr/>
          <p:nvPr/>
        </p:nvSpPr>
        <p:spPr>
          <a:xfrm>
            <a:off x="2415608" y="3195264"/>
            <a:ext cx="1782461" cy="231869"/>
          </a:xfrm>
          <a:prstGeom prst="rect">
            <a:avLst/>
          </a:prstGeom>
          <a:noFill/>
          <a:ln/>
        </p:spPr>
        <p:txBody>
          <a:bodyPr wrap="none" lIns="0" tIns="0" rIns="0" bIns="0" rtlCol="0" anchor="t"/>
          <a:lstStyle/>
          <a:p>
            <a:pPr marL="0" indent="0" algn="r" rtl="1">
              <a:lnSpc>
                <a:spcPts val="1700"/>
              </a:lnSpc>
              <a:buNone/>
            </a:pPr>
            <a:r>
              <a:rPr lang="en-US" sz="1600" b="1" dirty="0">
                <a:solidFill>
                  <a:srgbClr val="D9E1FF"/>
                </a:solidFill>
                <a:latin typeface="Sakkal Majalla" panose="02000000000000000000" pitchFamily="2" charset="-78"/>
                <a:ea typeface="Syne Bold" pitchFamily="34" charset="-122"/>
                <a:cs typeface="Sakkal Majalla" panose="02000000000000000000" pitchFamily="2" charset="-78"/>
              </a:rPr>
              <a:t>إحصائيات المحافظات</a:t>
            </a:r>
            <a:endParaRPr lang="en-US" sz="1600" dirty="0">
              <a:latin typeface="Sakkal Majalla" panose="02000000000000000000" pitchFamily="2" charset="-78"/>
              <a:cs typeface="Sakkal Majalla" panose="02000000000000000000" pitchFamily="2" charset="-78"/>
            </a:endParaRPr>
          </a:p>
        </p:txBody>
      </p:sp>
      <p:pic>
        <p:nvPicPr>
          <p:cNvPr id="17" name="Picture 16">
            <a:extLst>
              <a:ext uri="{FF2B5EF4-FFF2-40B4-BE49-F238E27FC236}">
                <a16:creationId xmlns:a16="http://schemas.microsoft.com/office/drawing/2014/main" id="{A242DB5B-994C-8C64-DBFD-1BEB50BD9EDF}"/>
              </a:ext>
            </a:extLst>
          </p:cNvPr>
          <p:cNvPicPr>
            <a:picLocks noChangeAspect="1"/>
          </p:cNvPicPr>
          <p:nvPr/>
        </p:nvPicPr>
        <p:blipFill>
          <a:blip r:embed="rId3"/>
          <a:stretch>
            <a:fillRect/>
          </a:stretch>
        </p:blipFill>
        <p:spPr>
          <a:xfrm>
            <a:off x="4061272" y="4347204"/>
            <a:ext cx="871881" cy="608500"/>
          </a:xfrm>
          <a:prstGeom prst="rect">
            <a:avLst/>
          </a:prstGeom>
        </p:spPr>
      </p:pic>
      <p:pic>
        <p:nvPicPr>
          <p:cNvPr id="21" name="Picture 20">
            <a:extLst>
              <a:ext uri="{FF2B5EF4-FFF2-40B4-BE49-F238E27FC236}">
                <a16:creationId xmlns:a16="http://schemas.microsoft.com/office/drawing/2014/main" id="{C6D53C95-DE53-1EFF-E327-4687E7FDDE3A}"/>
              </a:ext>
            </a:extLst>
          </p:cNvPr>
          <p:cNvPicPr>
            <a:picLocks noChangeAspect="1"/>
          </p:cNvPicPr>
          <p:nvPr/>
        </p:nvPicPr>
        <p:blipFill>
          <a:blip r:embed="rId4">
            <a:duotone>
              <a:prstClr val="black"/>
              <a:schemeClr val="accent3">
                <a:tint val="45000"/>
                <a:satMod val="400000"/>
              </a:schemeClr>
            </a:duotone>
          </a:blip>
          <a:stretch>
            <a:fillRect/>
          </a:stretch>
        </p:blipFill>
        <p:spPr>
          <a:xfrm>
            <a:off x="0" y="-8060"/>
            <a:ext cx="2042337" cy="1981372"/>
          </a:xfrm>
          <a:prstGeom prst="rect">
            <a:avLst/>
          </a:prstGeom>
        </p:spPr>
      </p:pic>
      <p:sp>
        <p:nvSpPr>
          <p:cNvPr id="22" name="Text 7">
            <a:extLst>
              <a:ext uri="{FF2B5EF4-FFF2-40B4-BE49-F238E27FC236}">
                <a16:creationId xmlns:a16="http://schemas.microsoft.com/office/drawing/2014/main" id="{4463B97D-D9A6-0558-863D-99A8D0BC26A2}"/>
              </a:ext>
            </a:extLst>
          </p:cNvPr>
          <p:cNvSpPr/>
          <p:nvPr/>
        </p:nvSpPr>
        <p:spPr>
          <a:xfrm>
            <a:off x="4528673" y="2189925"/>
            <a:ext cx="3721141" cy="504683"/>
          </a:xfrm>
          <a:prstGeom prst="rect">
            <a:avLst/>
          </a:prstGeom>
          <a:noFill/>
          <a:ln/>
        </p:spPr>
        <p:txBody>
          <a:bodyPr wrap="square" lIns="0" tIns="0" rIns="0" bIns="0" rtlCol="0" anchor="t"/>
          <a:lstStyle/>
          <a:p>
            <a:pPr marL="0" indent="0" algn="r" rtl="1">
              <a:lnSpc>
                <a:spcPts val="1850"/>
              </a:lnSpc>
              <a:buNone/>
            </a:pPr>
            <a:endParaRPr lang="en-US" sz="1150" dirty="0"/>
          </a:p>
        </p:txBody>
      </p:sp>
      <p:sp>
        <p:nvSpPr>
          <p:cNvPr id="23" name="TextBox 22">
            <a:extLst>
              <a:ext uri="{FF2B5EF4-FFF2-40B4-BE49-F238E27FC236}">
                <a16:creationId xmlns:a16="http://schemas.microsoft.com/office/drawing/2014/main" id="{CB1A4A00-4542-F294-F922-24223DC685B2}"/>
              </a:ext>
            </a:extLst>
          </p:cNvPr>
          <p:cNvSpPr txBox="1"/>
          <p:nvPr/>
        </p:nvSpPr>
        <p:spPr>
          <a:xfrm>
            <a:off x="4497212" y="2087268"/>
            <a:ext cx="4024083" cy="1107996"/>
          </a:xfrm>
          <a:prstGeom prst="rect">
            <a:avLst/>
          </a:prstGeom>
          <a:noFill/>
        </p:spPr>
        <p:txBody>
          <a:bodyPr wrap="square" rtlCol="0">
            <a:spAutoFit/>
          </a:bodyPr>
          <a:lstStyle/>
          <a:p>
            <a:pPr algn="r"/>
            <a:r>
              <a:rPr lang="ar-JO" sz="1200" b="1" dirty="0">
                <a:solidFill>
                  <a:srgbClr val="D9E1FF"/>
                </a:solidFill>
                <a:latin typeface="Arimo" panose="020B0604020202020204" charset="0"/>
                <a:ea typeface="Arimo" panose="020B0604020202020204" charset="0"/>
                <a:cs typeface="Sakkal Majalla" panose="02000000000000000000" pitchFamily="2" charset="-78"/>
              </a:rPr>
              <a:t>"يهدف هذا الجزء إلى تبسيط تجربة المستخدم عبر ثلاث خطوات بديهية تضمن الدقة والسرعة؛ فالتوثيق بالصورة يوفر وصفاً دقيقاً، والتحديد التلقائي للموقع يضمن وصول فرق الصيانة للنقطة الصحيحة، بينما يحقق التتبع اللحظي أعلى مستويات الشفافية والموثوقية من خلال إطلاع المواطن على مراحل الإنجاز أولاً بأول."</a:t>
            </a:r>
            <a:endParaRPr lang="ar-JO" sz="1200" dirty="0">
              <a:solidFill>
                <a:srgbClr val="D9E1FF"/>
              </a:solidFill>
              <a:latin typeface="Arimo" panose="020B0604020202020204" charset="0"/>
              <a:ea typeface="Arimo" panose="020B0604020202020204" charset="0"/>
              <a:cs typeface="Sakkal Majalla" panose="02000000000000000000" pitchFamily="2" charset="-78"/>
            </a:endParaRPr>
          </a:p>
          <a:p>
            <a:endParaRPr lang="en-US" dirty="0"/>
          </a:p>
        </p:txBody>
      </p:sp>
      <p:sp>
        <p:nvSpPr>
          <p:cNvPr id="25" name="TextBox 24">
            <a:extLst>
              <a:ext uri="{FF2B5EF4-FFF2-40B4-BE49-F238E27FC236}">
                <a16:creationId xmlns:a16="http://schemas.microsoft.com/office/drawing/2014/main" id="{9715F104-73CB-F0C6-279A-7B6A37799B3C}"/>
              </a:ext>
            </a:extLst>
          </p:cNvPr>
          <p:cNvSpPr txBox="1"/>
          <p:nvPr/>
        </p:nvSpPr>
        <p:spPr>
          <a:xfrm>
            <a:off x="323559" y="3355617"/>
            <a:ext cx="4024084" cy="769441"/>
          </a:xfrm>
          <a:prstGeom prst="rect">
            <a:avLst/>
          </a:prstGeom>
          <a:noFill/>
        </p:spPr>
        <p:txBody>
          <a:bodyPr wrap="square" rtlCol="0">
            <a:spAutoFit/>
          </a:bodyPr>
          <a:lstStyle/>
          <a:p>
            <a:pPr algn="r"/>
            <a:r>
              <a:rPr lang="ar-JO" sz="1100" dirty="0">
                <a:solidFill>
                  <a:srgbClr val="D9E1FF"/>
                </a:solidFill>
                <a:latin typeface="Arimo" panose="020B0604020202020204" charset="0"/>
                <a:ea typeface="Arimo" panose="020B0604020202020204" charset="0"/>
                <a:cs typeface="ADLaM Display" panose="020F0502020204030204" pitchFamily="2" charset="0"/>
              </a:rPr>
              <a:t>تمثل هذه اللوحة (مرآة الإنجاز) في المشروع، حيث تحول البيانات إلى أرقام حية تعكس نسب الإصلاح في كل قطاع ومتوسط سرعة الاستجابة. هدفها الأساسي هو تعزيز الشفافية بين الدولة والمواطن، وإثبات كفاءة العمل الميداني من خلال لغة الأرقام والمؤشرات الدقيقة.</a:t>
            </a:r>
            <a:endParaRPr lang="en-US" sz="1100" dirty="0">
              <a:solidFill>
                <a:srgbClr val="D9E1FF"/>
              </a:solidFill>
              <a:latin typeface="Arimo" panose="020B0604020202020204" charset="0"/>
              <a:ea typeface="Arimo" panose="020B0604020202020204" charset="0"/>
              <a:cs typeface="Arimo"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chemeClr val="bg2">
                <a:tint val="93000"/>
                <a:satMod val="150000"/>
                <a:shade val="98000"/>
                <a:lumMod val="102000"/>
              </a:schemeClr>
            </a:gs>
            <a:gs pos="63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ext 0"/>
          <p:cNvSpPr/>
          <p:nvPr/>
        </p:nvSpPr>
        <p:spPr>
          <a:xfrm>
            <a:off x="4164338" y="248947"/>
            <a:ext cx="2475161" cy="309339"/>
          </a:xfrm>
          <a:prstGeom prst="rect">
            <a:avLst/>
          </a:prstGeom>
          <a:solidFill>
            <a:srgbClr val="0C0A33">
              <a:alpha val="20000"/>
            </a:srgbClr>
          </a:solidFill>
          <a:ln>
            <a:solidFill>
              <a:schemeClr val="tx1"/>
            </a:solidFill>
          </a:ln>
        </p:spPr>
        <p:txBody>
          <a:bodyPr wrap="none" lIns="0" tIns="0" rIns="0" bIns="0" rtlCol="0" anchor="t"/>
          <a:lstStyle/>
          <a:p>
            <a:pPr marL="0" indent="0" algn="ctr" rtl="1">
              <a:lnSpc>
                <a:spcPts val="2400"/>
              </a:lnSpc>
              <a:buNone/>
            </a:pPr>
            <a:r>
              <a:rPr lang="en-US" sz="1900" b="1" dirty="0">
                <a:solidFill>
                  <a:srgbClr val="FFFFFF"/>
                </a:solidFill>
                <a:latin typeface="Simplified Arabic" panose="02020603050405020304" pitchFamily="18" charset="-78"/>
                <a:ea typeface="Syne Bold" pitchFamily="34" charset="-122"/>
                <a:cs typeface="Simplified Arabic" panose="02020603050405020304" pitchFamily="18" charset="-78"/>
              </a:rPr>
              <a:t>صفحة البلاغات</a:t>
            </a:r>
            <a:endParaRPr lang="en-US" sz="1900" dirty="0">
              <a:latin typeface="Simplified Arabic" panose="02020603050405020304" pitchFamily="18" charset="-78"/>
              <a:cs typeface="Simplified Arabic" panose="02020603050405020304" pitchFamily="18" charset="-78"/>
            </a:endParaRPr>
          </a:p>
        </p:txBody>
      </p:sp>
      <p:sp>
        <p:nvSpPr>
          <p:cNvPr id="3" name="Text 1"/>
          <p:cNvSpPr/>
          <p:nvPr/>
        </p:nvSpPr>
        <p:spPr>
          <a:xfrm>
            <a:off x="3848521" y="843279"/>
            <a:ext cx="3238634" cy="201030"/>
          </a:xfrm>
          <a:prstGeom prst="rect">
            <a:avLst/>
          </a:prstGeom>
          <a:noFill/>
          <a:ln/>
        </p:spPr>
        <p:txBody>
          <a:bodyPr wrap="none" lIns="0" tIns="0" rIns="0" bIns="0" rtlCol="0" anchor="t"/>
          <a:lstStyle/>
          <a:p>
            <a:pPr marL="0" indent="0" algn="ctr" rtl="1">
              <a:lnSpc>
                <a:spcPts val="1100"/>
              </a:lnSpc>
              <a:buNone/>
            </a:pPr>
            <a:r>
              <a:rPr lang="en-US" sz="1400" dirty="0">
                <a:solidFill>
                  <a:srgbClr val="D9E1FF"/>
                </a:solidFill>
                <a:latin typeface="Arimo" pitchFamily="34" charset="0"/>
                <a:ea typeface="Arimo" pitchFamily="34" charset="-122"/>
                <a:cs typeface="Arimo" pitchFamily="34" charset="-120"/>
              </a:rPr>
              <a:t>مركز الإجراءات الميدانية </a:t>
            </a:r>
            <a:r>
              <a:rPr lang="ar-JO" sz="1400" dirty="0">
                <a:solidFill>
                  <a:srgbClr val="D9E1FF"/>
                </a:solidFill>
                <a:latin typeface="Arimo" pitchFamily="34" charset="0"/>
                <a:ea typeface="Arimo" pitchFamily="34" charset="-122"/>
                <a:cs typeface="Arimo" pitchFamily="34" charset="-120"/>
              </a:rPr>
              <a:t> -</a:t>
            </a:r>
            <a:r>
              <a:rPr lang="en-US" sz="1400" dirty="0">
                <a:solidFill>
                  <a:srgbClr val="D9E1FF"/>
                </a:solidFill>
                <a:latin typeface="Arimo" pitchFamily="34" charset="0"/>
                <a:ea typeface="Arimo" pitchFamily="34" charset="-122"/>
                <a:cs typeface="Arimo" pitchFamily="34" charset="-120"/>
              </a:rPr>
              <a:t> من التقاط المشكلة حتى تتبعها لحظياً</a:t>
            </a:r>
            <a:endParaRPr lang="en-US" sz="1400" dirty="0">
              <a:solidFill>
                <a:srgbClr val="D9E1FF"/>
              </a:solidFill>
            </a:endParaRPr>
          </a:p>
        </p:txBody>
      </p:sp>
      <p:pic>
        <p:nvPicPr>
          <p:cNvPr id="4" name="Image 0" descr="preencoded.png"/>
          <p:cNvPicPr>
            <a:picLocks noGrp="1" noRot="1" noChangeAspect="1" noMove="1" noResize="1" noEditPoints="1" noAdjustHandles="1" noChangeArrowheads="1" noChangeShapeType="1" noCrop="1"/>
          </p:cNvPicPr>
          <p:nvPr/>
        </p:nvPicPr>
        <p:blipFill>
          <a:blip r:embed="rId3">
            <a:duotone>
              <a:schemeClr val="accent4">
                <a:shade val="45000"/>
                <a:satMod val="135000"/>
              </a:schemeClr>
              <a:prstClr val="white"/>
            </a:duotone>
          </a:blip>
          <a:stretch>
            <a:fillRect/>
          </a:stretch>
        </p:blipFill>
        <p:spPr>
          <a:xfrm>
            <a:off x="2777296" y="1296536"/>
            <a:ext cx="5851731" cy="2566845"/>
          </a:xfrm>
          <a:prstGeom prst="rect">
            <a:avLst/>
          </a:prstGeom>
        </p:spPr>
      </p:pic>
      <p:sp>
        <p:nvSpPr>
          <p:cNvPr id="5" name="Text 2"/>
          <p:cNvSpPr/>
          <p:nvPr/>
        </p:nvSpPr>
        <p:spPr>
          <a:xfrm>
            <a:off x="5935411" y="3195275"/>
            <a:ext cx="1032485" cy="173878"/>
          </a:xfrm>
          <a:prstGeom prst="rect">
            <a:avLst/>
          </a:prstGeom>
          <a:noFill/>
          <a:ln/>
        </p:spPr>
        <p:txBody>
          <a:bodyPr wrap="none" lIns="0" tIns="0" rIns="0" bIns="0" rtlCol="0" anchor="t"/>
          <a:lstStyle/>
          <a:p>
            <a:pPr marL="0" indent="0" algn="ctr" rtl="1">
              <a:lnSpc>
                <a:spcPts val="1350"/>
              </a:lnSpc>
              <a:buNone/>
            </a:pPr>
            <a:r>
              <a:rPr lang="en-US" sz="1050" b="1" dirty="0">
                <a:solidFill>
                  <a:srgbClr val="FFFFFF"/>
                </a:solidFill>
                <a:latin typeface="Sakkal Majalla" panose="02000000000000000000" pitchFamily="2" charset="-78"/>
                <a:ea typeface="Syne Bold" pitchFamily="34" charset="-122"/>
                <a:cs typeface="Sakkal Majalla" panose="02000000000000000000" pitchFamily="2" charset="-78"/>
              </a:rPr>
              <a:t>تحديد الموقع</a:t>
            </a:r>
            <a:endParaRPr lang="en-US" sz="1050" dirty="0">
              <a:latin typeface="Sakkal Majalla" panose="02000000000000000000" pitchFamily="2" charset="-78"/>
              <a:cs typeface="Sakkal Majalla" panose="02000000000000000000" pitchFamily="2" charset="-78"/>
            </a:endParaRPr>
          </a:p>
        </p:txBody>
      </p:sp>
      <p:sp>
        <p:nvSpPr>
          <p:cNvPr id="6" name="Text 3"/>
          <p:cNvSpPr/>
          <p:nvPr/>
        </p:nvSpPr>
        <p:spPr>
          <a:xfrm>
            <a:off x="5921123" y="3424823"/>
            <a:ext cx="1032485" cy="251831"/>
          </a:xfrm>
          <a:prstGeom prst="rect">
            <a:avLst/>
          </a:prstGeom>
          <a:noFill/>
          <a:ln/>
        </p:spPr>
        <p:txBody>
          <a:bodyPr wrap="square" lIns="0" tIns="0" rIns="0" bIns="0" rtlCol="0" anchor="t"/>
          <a:lstStyle/>
          <a:p>
            <a:pPr marL="0" indent="0" algn="ctr" rtl="1">
              <a:lnSpc>
                <a:spcPts val="950"/>
              </a:lnSpc>
              <a:buNone/>
            </a:pPr>
            <a:r>
              <a:rPr lang="en-US" sz="900" b="1" dirty="0">
                <a:solidFill>
                  <a:srgbClr val="D9E1FF"/>
                </a:solidFill>
                <a:latin typeface="Arimo" pitchFamily="34" charset="0"/>
                <a:ea typeface="Arimo" pitchFamily="34" charset="-122"/>
                <a:cs typeface="Arimo" pitchFamily="34" charset="-120"/>
              </a:rPr>
              <a:t>تعيين الإحداثيات تلقائياً</a:t>
            </a:r>
            <a:endParaRPr lang="en-US" sz="900" b="1" dirty="0"/>
          </a:p>
        </p:txBody>
      </p:sp>
      <p:sp>
        <p:nvSpPr>
          <p:cNvPr id="7" name="Text 4"/>
          <p:cNvSpPr/>
          <p:nvPr/>
        </p:nvSpPr>
        <p:spPr>
          <a:xfrm>
            <a:off x="3117319" y="3103426"/>
            <a:ext cx="1032485" cy="173878"/>
          </a:xfrm>
          <a:prstGeom prst="rect">
            <a:avLst/>
          </a:prstGeom>
          <a:noFill/>
          <a:ln/>
        </p:spPr>
        <p:txBody>
          <a:bodyPr wrap="none" lIns="0" tIns="0" rIns="0" bIns="0" rtlCol="0" anchor="t"/>
          <a:lstStyle/>
          <a:p>
            <a:pPr marL="0" indent="0" algn="ctr" rtl="1">
              <a:lnSpc>
                <a:spcPts val="1350"/>
              </a:lnSpc>
              <a:buNone/>
            </a:pPr>
            <a:r>
              <a:rPr lang="en-US" sz="1050" b="1" dirty="0">
                <a:solidFill>
                  <a:srgbClr val="FFFFFF"/>
                </a:solidFill>
                <a:latin typeface="Sakkal Majalla" panose="02000000000000000000" pitchFamily="2" charset="-78"/>
                <a:ea typeface="Syne Bold" pitchFamily="34" charset="-122"/>
                <a:cs typeface="Sakkal Majalla" panose="02000000000000000000" pitchFamily="2" charset="-78"/>
              </a:rPr>
              <a:t>الإرسال والتتبع</a:t>
            </a:r>
            <a:endParaRPr lang="en-US" sz="1050" dirty="0">
              <a:latin typeface="Sakkal Majalla" panose="02000000000000000000" pitchFamily="2" charset="-78"/>
              <a:cs typeface="Sakkal Majalla" panose="02000000000000000000" pitchFamily="2" charset="-78"/>
            </a:endParaRPr>
          </a:p>
        </p:txBody>
      </p:sp>
      <p:sp>
        <p:nvSpPr>
          <p:cNvPr id="8" name="Text 5"/>
          <p:cNvSpPr/>
          <p:nvPr/>
        </p:nvSpPr>
        <p:spPr>
          <a:xfrm>
            <a:off x="3169165" y="3391711"/>
            <a:ext cx="1032485" cy="251831"/>
          </a:xfrm>
          <a:prstGeom prst="rect">
            <a:avLst/>
          </a:prstGeom>
          <a:noFill/>
          <a:ln/>
        </p:spPr>
        <p:txBody>
          <a:bodyPr wrap="square" lIns="0" tIns="0" rIns="0" bIns="0" rtlCol="0" anchor="t"/>
          <a:lstStyle/>
          <a:p>
            <a:pPr marL="0" indent="0" algn="ctr" rtl="1">
              <a:lnSpc>
                <a:spcPts val="950"/>
              </a:lnSpc>
              <a:buNone/>
            </a:pPr>
            <a:r>
              <a:rPr lang="en-US" sz="900" b="1" dirty="0">
                <a:solidFill>
                  <a:srgbClr val="D9E1FF"/>
                </a:solidFill>
                <a:latin typeface="Arimo" pitchFamily="34" charset="0"/>
                <a:ea typeface="Arimo" pitchFamily="34" charset="-122"/>
                <a:cs typeface="Arimo" pitchFamily="34" charset="-120"/>
              </a:rPr>
              <a:t>إرسال البلاغ ومتابعته لحظياً</a:t>
            </a:r>
            <a:endParaRPr lang="en-US" sz="900" b="1" dirty="0"/>
          </a:p>
        </p:txBody>
      </p:sp>
      <p:sp>
        <p:nvSpPr>
          <p:cNvPr id="9" name="Text 6"/>
          <p:cNvSpPr/>
          <p:nvPr/>
        </p:nvSpPr>
        <p:spPr>
          <a:xfrm>
            <a:off x="7339265" y="1178805"/>
            <a:ext cx="1032485" cy="173878"/>
          </a:xfrm>
          <a:prstGeom prst="rect">
            <a:avLst/>
          </a:prstGeom>
          <a:noFill/>
          <a:ln/>
        </p:spPr>
        <p:txBody>
          <a:bodyPr wrap="none" lIns="0" tIns="0" rIns="0" bIns="0" rtlCol="0" anchor="t"/>
          <a:lstStyle/>
          <a:p>
            <a:pPr marL="0" indent="0" algn="ctr" rtl="1">
              <a:lnSpc>
                <a:spcPts val="1350"/>
              </a:lnSpc>
              <a:buNone/>
            </a:pPr>
            <a:r>
              <a:rPr lang="en-US" sz="1050" b="1" dirty="0">
                <a:solidFill>
                  <a:srgbClr val="FFFFFF"/>
                </a:solidFill>
                <a:latin typeface="Sakkal Majalla" panose="02000000000000000000" pitchFamily="2" charset="-78"/>
                <a:ea typeface="Syne Bold" pitchFamily="34" charset="-122"/>
                <a:cs typeface="Sakkal Majalla" panose="02000000000000000000" pitchFamily="2" charset="-78"/>
              </a:rPr>
              <a:t>التقاط الصورة</a:t>
            </a:r>
            <a:endParaRPr lang="en-US" sz="1050" dirty="0">
              <a:latin typeface="Sakkal Majalla" panose="02000000000000000000" pitchFamily="2" charset="-78"/>
              <a:cs typeface="Sakkal Majalla" panose="02000000000000000000" pitchFamily="2" charset="-78"/>
            </a:endParaRPr>
          </a:p>
        </p:txBody>
      </p:sp>
      <p:sp>
        <p:nvSpPr>
          <p:cNvPr id="10" name="Text 7"/>
          <p:cNvSpPr/>
          <p:nvPr/>
        </p:nvSpPr>
        <p:spPr>
          <a:xfrm>
            <a:off x="7308359" y="1542857"/>
            <a:ext cx="1032485" cy="251831"/>
          </a:xfrm>
          <a:prstGeom prst="rect">
            <a:avLst/>
          </a:prstGeom>
          <a:noFill/>
          <a:ln/>
        </p:spPr>
        <p:txBody>
          <a:bodyPr wrap="square" lIns="0" tIns="0" rIns="0" bIns="0" rtlCol="0" anchor="t"/>
          <a:lstStyle/>
          <a:p>
            <a:pPr marL="0" indent="0" algn="ctr" rtl="1">
              <a:lnSpc>
                <a:spcPts val="950"/>
              </a:lnSpc>
              <a:buNone/>
            </a:pPr>
            <a:r>
              <a:rPr lang="en-US" sz="900" b="1" dirty="0">
                <a:solidFill>
                  <a:srgbClr val="D9E1FF"/>
                </a:solidFill>
                <a:latin typeface="Arimo" pitchFamily="34" charset="0"/>
                <a:ea typeface="Arimo" pitchFamily="34" charset="-122"/>
                <a:cs typeface="Arimo" pitchFamily="34" charset="-120"/>
              </a:rPr>
              <a:t>توثيق المشكلة بصور واضحة</a:t>
            </a:r>
            <a:endParaRPr lang="en-US" sz="900" b="1" dirty="0"/>
          </a:p>
        </p:txBody>
      </p:sp>
      <p:sp>
        <p:nvSpPr>
          <p:cNvPr id="11" name="Text 8"/>
          <p:cNvSpPr/>
          <p:nvPr/>
        </p:nvSpPr>
        <p:spPr>
          <a:xfrm>
            <a:off x="4468023" y="1205674"/>
            <a:ext cx="1032485" cy="173878"/>
          </a:xfrm>
          <a:prstGeom prst="rect">
            <a:avLst/>
          </a:prstGeom>
          <a:noFill/>
          <a:ln/>
        </p:spPr>
        <p:txBody>
          <a:bodyPr wrap="none" lIns="0" tIns="0" rIns="0" bIns="0" rtlCol="0" anchor="t"/>
          <a:lstStyle/>
          <a:p>
            <a:pPr marL="0" indent="0" algn="ctr" rtl="1">
              <a:lnSpc>
                <a:spcPts val="1350"/>
              </a:lnSpc>
              <a:buNone/>
            </a:pPr>
            <a:r>
              <a:rPr lang="en-US" sz="1050" b="1" dirty="0">
                <a:solidFill>
                  <a:srgbClr val="FFFFFF"/>
                </a:solidFill>
                <a:latin typeface="Sakkal Majalla" panose="02000000000000000000" pitchFamily="2" charset="-78"/>
                <a:ea typeface="Syne Bold" pitchFamily="34" charset="-122"/>
                <a:cs typeface="Sakkal Majalla" panose="02000000000000000000" pitchFamily="2" charset="-78"/>
              </a:rPr>
              <a:t>اختيار الفئة</a:t>
            </a:r>
            <a:endParaRPr lang="en-US" sz="1050" dirty="0">
              <a:latin typeface="Sakkal Majalla" panose="02000000000000000000" pitchFamily="2" charset="-78"/>
              <a:cs typeface="Sakkal Majalla" panose="02000000000000000000" pitchFamily="2" charset="-78"/>
            </a:endParaRPr>
          </a:p>
        </p:txBody>
      </p:sp>
      <p:sp>
        <p:nvSpPr>
          <p:cNvPr id="12" name="Text 9"/>
          <p:cNvSpPr/>
          <p:nvPr/>
        </p:nvSpPr>
        <p:spPr>
          <a:xfrm>
            <a:off x="4435353" y="1483264"/>
            <a:ext cx="1032485" cy="251831"/>
          </a:xfrm>
          <a:prstGeom prst="rect">
            <a:avLst/>
          </a:prstGeom>
          <a:noFill/>
          <a:ln/>
        </p:spPr>
        <p:txBody>
          <a:bodyPr wrap="square" lIns="0" tIns="0" rIns="0" bIns="0" rtlCol="0" anchor="t"/>
          <a:lstStyle/>
          <a:p>
            <a:pPr marL="0" indent="0" algn="ctr" rtl="1">
              <a:lnSpc>
                <a:spcPts val="950"/>
              </a:lnSpc>
              <a:buNone/>
            </a:pPr>
            <a:r>
              <a:rPr lang="en-US" sz="900" b="1" dirty="0">
                <a:solidFill>
                  <a:srgbClr val="D9E1FF"/>
                </a:solidFill>
                <a:latin typeface="Arimo" pitchFamily="34" charset="0"/>
                <a:ea typeface="Arimo" pitchFamily="34" charset="-122"/>
                <a:cs typeface="Arimo" pitchFamily="34" charset="-120"/>
              </a:rPr>
              <a:t>حدد النوع ومستوى الخطورة</a:t>
            </a:r>
            <a:endParaRPr lang="en-US" sz="900" b="1" dirty="0"/>
          </a:p>
        </p:txBody>
      </p:sp>
      <p:sp>
        <p:nvSpPr>
          <p:cNvPr id="13" name="Shape 10"/>
          <p:cNvSpPr/>
          <p:nvPr/>
        </p:nvSpPr>
        <p:spPr>
          <a:xfrm>
            <a:off x="7308359" y="4050109"/>
            <a:ext cx="1712120" cy="711292"/>
          </a:xfrm>
          <a:prstGeom prst="roundRect">
            <a:avLst>
              <a:gd name="adj" fmla="val 9466"/>
            </a:avLst>
          </a:prstGeom>
          <a:solidFill>
            <a:srgbClr val="F2F2F2">
              <a:alpha val="7843"/>
            </a:srgbClr>
          </a:solidFill>
          <a:ln w="14288">
            <a:solidFill>
              <a:srgbClr val="44426B"/>
            </a:solidFill>
            <a:prstDash val="solid"/>
          </a:ln>
        </p:spPr>
        <p:txBody>
          <a:bodyPr/>
          <a:lstStyle/>
          <a:p>
            <a:endParaRPr lang="en-US"/>
          </a:p>
        </p:txBody>
      </p:sp>
      <p:sp>
        <p:nvSpPr>
          <p:cNvPr id="14" name="Shape 11"/>
          <p:cNvSpPr/>
          <p:nvPr/>
        </p:nvSpPr>
        <p:spPr>
          <a:xfrm>
            <a:off x="8989046" y="4050109"/>
            <a:ext cx="45719" cy="711292"/>
          </a:xfrm>
          <a:prstGeom prst="roundRect">
            <a:avLst>
              <a:gd name="adj" fmla="val 27611"/>
            </a:avLst>
          </a:prstGeom>
          <a:solidFill>
            <a:srgbClr val="F8F8F8"/>
          </a:solidFill>
          <a:ln/>
        </p:spPr>
        <p:txBody>
          <a:bodyPr/>
          <a:lstStyle/>
          <a:p>
            <a:endParaRPr lang="en-US"/>
          </a:p>
        </p:txBody>
      </p:sp>
      <p:sp>
        <p:nvSpPr>
          <p:cNvPr id="16" name="Text 13"/>
          <p:cNvSpPr/>
          <p:nvPr/>
        </p:nvSpPr>
        <p:spPr>
          <a:xfrm>
            <a:off x="7362571" y="4304313"/>
            <a:ext cx="1495610" cy="281419"/>
          </a:xfrm>
          <a:prstGeom prst="rect">
            <a:avLst/>
          </a:prstGeom>
          <a:noFill/>
          <a:ln/>
        </p:spPr>
        <p:txBody>
          <a:bodyPr wrap="square" lIns="0" tIns="0" rIns="0" bIns="0" rtlCol="0" anchor="t"/>
          <a:lstStyle/>
          <a:p>
            <a:pPr marL="0" indent="0" algn="r" rtl="1">
              <a:lnSpc>
                <a:spcPts val="1100"/>
              </a:lnSpc>
              <a:buNone/>
            </a:pPr>
            <a:r>
              <a:rPr lang="en-US" sz="800" b="1" dirty="0">
                <a:solidFill>
                  <a:srgbClr val="D9E1FF"/>
                </a:solidFill>
                <a:latin typeface="Arimo" pitchFamily="34" charset="0"/>
                <a:ea typeface="Arimo" pitchFamily="34" charset="-122"/>
                <a:cs typeface="Arimo" pitchFamily="34" charset="-120"/>
              </a:rPr>
              <a:t>تستخدم المنصة GPS لتحديد الإحداثيات بدقة عبر Leaflet.js وتوجيه البلاغ للبلدية المختصة.</a:t>
            </a:r>
            <a:endParaRPr lang="en-US" sz="800" b="1" dirty="0"/>
          </a:p>
        </p:txBody>
      </p:sp>
      <p:sp>
        <p:nvSpPr>
          <p:cNvPr id="17" name="Shape 14"/>
          <p:cNvSpPr/>
          <p:nvPr/>
        </p:nvSpPr>
        <p:spPr>
          <a:xfrm>
            <a:off x="5006525" y="4050109"/>
            <a:ext cx="1712177" cy="711292"/>
          </a:xfrm>
          <a:prstGeom prst="roundRect">
            <a:avLst>
              <a:gd name="adj" fmla="val 9466"/>
            </a:avLst>
          </a:prstGeom>
          <a:solidFill>
            <a:srgbClr val="FFFFFF">
              <a:alpha val="12941"/>
            </a:srgbClr>
          </a:solidFill>
          <a:ln w="14288">
            <a:solidFill>
              <a:srgbClr val="44426B"/>
            </a:solidFill>
            <a:prstDash val="solid"/>
          </a:ln>
        </p:spPr>
        <p:txBody>
          <a:bodyPr/>
          <a:lstStyle/>
          <a:p>
            <a:endParaRPr lang="en-US" dirty="0"/>
          </a:p>
        </p:txBody>
      </p:sp>
      <p:sp>
        <p:nvSpPr>
          <p:cNvPr id="18" name="Shape 15"/>
          <p:cNvSpPr/>
          <p:nvPr/>
        </p:nvSpPr>
        <p:spPr>
          <a:xfrm>
            <a:off x="6687270" y="4050109"/>
            <a:ext cx="45719" cy="711292"/>
          </a:xfrm>
          <a:prstGeom prst="roundRect">
            <a:avLst>
              <a:gd name="adj" fmla="val 27611"/>
            </a:avLst>
          </a:prstGeom>
          <a:solidFill>
            <a:srgbClr val="F8F8F8"/>
          </a:solidFill>
          <a:ln/>
        </p:spPr>
        <p:txBody>
          <a:bodyPr/>
          <a:lstStyle/>
          <a:p>
            <a:endParaRPr lang="en-US"/>
          </a:p>
        </p:txBody>
      </p:sp>
      <p:sp>
        <p:nvSpPr>
          <p:cNvPr id="19" name="Text 16"/>
          <p:cNvSpPr/>
          <p:nvPr/>
        </p:nvSpPr>
        <p:spPr>
          <a:xfrm>
            <a:off x="5605329" y="4159159"/>
            <a:ext cx="951076" cy="151814"/>
          </a:xfrm>
          <a:prstGeom prst="rect">
            <a:avLst/>
          </a:prstGeom>
          <a:noFill/>
          <a:ln/>
        </p:spPr>
        <p:txBody>
          <a:bodyPr wrap="none" lIns="0" tIns="0" rIns="0" bIns="0" rtlCol="0" anchor="t"/>
          <a:lstStyle/>
          <a:p>
            <a:pPr marL="0" indent="0" algn="r" rtl="1">
              <a:lnSpc>
                <a:spcPts val="1200"/>
              </a:lnSpc>
              <a:buNone/>
            </a:pPr>
            <a:r>
              <a:rPr lang="en-US" sz="950" b="1" dirty="0">
                <a:solidFill>
                  <a:srgbClr val="D9E1FF"/>
                </a:solidFill>
                <a:latin typeface="Simplified Arabic" panose="02020603050405020304" pitchFamily="18" charset="-78"/>
                <a:ea typeface="Syne Bold" pitchFamily="34" charset="-122"/>
                <a:cs typeface="Simplified Arabic" panose="02020603050405020304" pitchFamily="18" charset="-78"/>
              </a:rPr>
              <a:t>الفئات ومستوى الخطورة</a:t>
            </a:r>
            <a:endParaRPr lang="en-US" sz="950" dirty="0">
              <a:latin typeface="Simplified Arabic" panose="02020603050405020304" pitchFamily="18" charset="-78"/>
              <a:cs typeface="Simplified Arabic" panose="02020603050405020304" pitchFamily="18" charset="-78"/>
            </a:endParaRPr>
          </a:p>
        </p:txBody>
      </p:sp>
      <p:sp>
        <p:nvSpPr>
          <p:cNvPr id="20" name="Text 17"/>
          <p:cNvSpPr/>
          <p:nvPr/>
        </p:nvSpPr>
        <p:spPr>
          <a:xfrm>
            <a:off x="5090769" y="4324215"/>
            <a:ext cx="1495667" cy="281419"/>
          </a:xfrm>
          <a:prstGeom prst="rect">
            <a:avLst/>
          </a:prstGeom>
          <a:noFill/>
          <a:ln/>
        </p:spPr>
        <p:txBody>
          <a:bodyPr wrap="square" lIns="0" tIns="0" rIns="0" bIns="0" rtlCol="0" anchor="t"/>
          <a:lstStyle/>
          <a:p>
            <a:pPr marL="0" indent="0" algn="r" rtl="1">
              <a:lnSpc>
                <a:spcPts val="1100"/>
              </a:lnSpc>
              <a:buNone/>
            </a:pPr>
            <a:r>
              <a:rPr lang="en-US" sz="800" b="1" dirty="0" err="1">
                <a:solidFill>
                  <a:srgbClr val="D9E1FF"/>
                </a:solidFill>
                <a:latin typeface="Arimo" pitchFamily="34" charset="0"/>
                <a:ea typeface="Arimo" pitchFamily="34" charset="-122"/>
                <a:cs typeface="Arimo" pitchFamily="34" charset="-120"/>
              </a:rPr>
              <a:t>قائمة</a:t>
            </a:r>
            <a:r>
              <a:rPr lang="en-US" sz="800" b="1" dirty="0">
                <a:solidFill>
                  <a:srgbClr val="D9E1FF"/>
                </a:solidFill>
                <a:latin typeface="Arimo" pitchFamily="34" charset="0"/>
                <a:ea typeface="Arimo" pitchFamily="34" charset="-122"/>
                <a:cs typeface="Arimo" pitchFamily="34" charset="-120"/>
              </a:rPr>
              <a:t>  تشمل الطرق والمياه </a:t>
            </a:r>
            <a:r>
              <a:rPr lang="en-US" sz="800" b="1" dirty="0" err="1">
                <a:solidFill>
                  <a:srgbClr val="D9E1FF"/>
                </a:solidFill>
                <a:latin typeface="Arimo" pitchFamily="34" charset="0"/>
                <a:ea typeface="Arimo" pitchFamily="34" charset="-122"/>
                <a:cs typeface="Arimo" pitchFamily="34" charset="-120"/>
              </a:rPr>
              <a:t>والكهرباء</a:t>
            </a:r>
            <a:r>
              <a:rPr lang="en-US" sz="800" b="1" dirty="0">
                <a:solidFill>
                  <a:srgbClr val="D9E1FF"/>
                </a:solidFill>
                <a:latin typeface="Arimo" pitchFamily="34" charset="0"/>
                <a:ea typeface="Arimo" pitchFamily="34" charset="-122"/>
                <a:cs typeface="Arimo" pitchFamily="34" charset="-120"/>
              </a:rPr>
              <a:t> </a:t>
            </a:r>
            <a:r>
              <a:rPr lang="en-US" sz="800" b="1" dirty="0" err="1">
                <a:solidFill>
                  <a:srgbClr val="D9E1FF"/>
                </a:solidFill>
                <a:latin typeface="Arimo" pitchFamily="34" charset="0"/>
                <a:ea typeface="Arimo" pitchFamily="34" charset="-122"/>
                <a:cs typeface="Arimo" pitchFamily="34" charset="-120"/>
              </a:rPr>
              <a:t>وال</a:t>
            </a:r>
            <a:r>
              <a:rPr lang="ar-JO" sz="800" b="1" dirty="0">
                <a:solidFill>
                  <a:srgbClr val="D9E1FF"/>
                </a:solidFill>
                <a:latin typeface="Arimo" pitchFamily="34" charset="0"/>
                <a:ea typeface="Arimo" pitchFamily="34" charset="-122"/>
                <a:cs typeface="Arimo" pitchFamily="34" charset="-120"/>
              </a:rPr>
              <a:t>حفر والنفايات</a:t>
            </a:r>
            <a:r>
              <a:rPr lang="en-US" sz="800" b="1" dirty="0">
                <a:solidFill>
                  <a:srgbClr val="D9E1FF"/>
                </a:solidFill>
                <a:latin typeface="Arimo" pitchFamily="34" charset="0"/>
                <a:ea typeface="Arimo" pitchFamily="34" charset="-122"/>
                <a:cs typeface="Arimo" pitchFamily="34" charset="-120"/>
              </a:rPr>
              <a:t>، مع مقياس لوني من عادي إلى طارئ.</a:t>
            </a:r>
            <a:endParaRPr lang="en-US" sz="800" b="1" dirty="0"/>
          </a:p>
        </p:txBody>
      </p:sp>
      <p:sp>
        <p:nvSpPr>
          <p:cNvPr id="21" name="Shape 18"/>
          <p:cNvSpPr/>
          <p:nvPr/>
        </p:nvSpPr>
        <p:spPr>
          <a:xfrm>
            <a:off x="2704733" y="4050109"/>
            <a:ext cx="1712120" cy="711292"/>
          </a:xfrm>
          <a:prstGeom prst="roundRect">
            <a:avLst>
              <a:gd name="adj" fmla="val 9466"/>
            </a:avLst>
          </a:prstGeom>
          <a:solidFill>
            <a:srgbClr val="F2F2F2">
              <a:alpha val="7843"/>
            </a:srgbClr>
          </a:solidFill>
          <a:ln w="14288">
            <a:solidFill>
              <a:srgbClr val="44426B"/>
            </a:solidFill>
            <a:prstDash val="solid"/>
          </a:ln>
        </p:spPr>
        <p:txBody>
          <a:bodyPr/>
          <a:lstStyle/>
          <a:p>
            <a:endParaRPr lang="en-US"/>
          </a:p>
        </p:txBody>
      </p:sp>
      <p:sp>
        <p:nvSpPr>
          <p:cNvPr id="22" name="Shape 19"/>
          <p:cNvSpPr/>
          <p:nvPr/>
        </p:nvSpPr>
        <p:spPr>
          <a:xfrm>
            <a:off x="4385420" y="4050109"/>
            <a:ext cx="45719" cy="711292"/>
          </a:xfrm>
          <a:prstGeom prst="roundRect">
            <a:avLst>
              <a:gd name="adj" fmla="val 27611"/>
            </a:avLst>
          </a:prstGeom>
          <a:solidFill>
            <a:srgbClr val="F8F8F8"/>
          </a:solidFill>
          <a:ln/>
        </p:spPr>
        <p:txBody>
          <a:bodyPr/>
          <a:lstStyle/>
          <a:p>
            <a:endParaRPr lang="en-US"/>
          </a:p>
        </p:txBody>
      </p:sp>
      <p:sp>
        <p:nvSpPr>
          <p:cNvPr id="23" name="Text 20"/>
          <p:cNvSpPr/>
          <p:nvPr/>
        </p:nvSpPr>
        <p:spPr>
          <a:xfrm>
            <a:off x="3303479" y="4159159"/>
            <a:ext cx="951076" cy="151814"/>
          </a:xfrm>
          <a:prstGeom prst="rect">
            <a:avLst/>
          </a:prstGeom>
          <a:noFill/>
          <a:ln/>
        </p:spPr>
        <p:txBody>
          <a:bodyPr wrap="none" lIns="0" tIns="0" rIns="0" bIns="0" rtlCol="0" anchor="t"/>
          <a:lstStyle/>
          <a:p>
            <a:pPr marL="0" indent="0" algn="r" rtl="1">
              <a:lnSpc>
                <a:spcPts val="1200"/>
              </a:lnSpc>
              <a:buNone/>
            </a:pPr>
            <a:r>
              <a:rPr lang="en-US" sz="950" b="1" dirty="0">
                <a:solidFill>
                  <a:srgbClr val="D9E1FF"/>
                </a:solidFill>
                <a:latin typeface="Simplified Arabic" panose="02020603050405020304" pitchFamily="18" charset="-78"/>
                <a:ea typeface="Syne Bold" pitchFamily="34" charset="-122"/>
                <a:cs typeface="Simplified Arabic" panose="02020603050405020304" pitchFamily="18" charset="-78"/>
              </a:rPr>
              <a:t>تتبع الحالة اللحظي</a:t>
            </a:r>
            <a:endParaRPr lang="en-US" sz="950" dirty="0">
              <a:latin typeface="Simplified Arabic" panose="02020603050405020304" pitchFamily="18" charset="-78"/>
              <a:cs typeface="Simplified Arabic" panose="02020603050405020304" pitchFamily="18" charset="-78"/>
            </a:endParaRPr>
          </a:p>
        </p:txBody>
      </p:sp>
      <p:sp>
        <p:nvSpPr>
          <p:cNvPr id="24" name="Text 21"/>
          <p:cNvSpPr/>
          <p:nvPr/>
        </p:nvSpPr>
        <p:spPr>
          <a:xfrm>
            <a:off x="2758945" y="4310973"/>
            <a:ext cx="1495610" cy="281419"/>
          </a:xfrm>
          <a:prstGeom prst="rect">
            <a:avLst/>
          </a:prstGeom>
          <a:noFill/>
          <a:ln/>
        </p:spPr>
        <p:txBody>
          <a:bodyPr wrap="square" lIns="0" tIns="0" rIns="0" bIns="0" rtlCol="0" anchor="t"/>
          <a:lstStyle/>
          <a:p>
            <a:pPr marL="0" indent="0" algn="r" rtl="1">
              <a:lnSpc>
                <a:spcPts val="1100"/>
              </a:lnSpc>
              <a:buNone/>
            </a:pPr>
            <a:r>
              <a:rPr lang="en-US" sz="800" b="1" dirty="0">
                <a:solidFill>
                  <a:srgbClr val="D9E1FF"/>
                </a:solidFill>
                <a:latin typeface="Arimo" pitchFamily="34" charset="0"/>
                <a:ea typeface="Arimo" pitchFamily="34" charset="-122"/>
                <a:cs typeface="Arimo" pitchFamily="34" charset="-120"/>
              </a:rPr>
              <a:t>شريط تقدم مرئي بثلاث مراحل: تم الإرسال ← قيد التنفيذ ← </a:t>
            </a:r>
            <a:r>
              <a:rPr lang="en-US" sz="800" b="1" dirty="0" err="1">
                <a:solidFill>
                  <a:srgbClr val="D9E1FF"/>
                </a:solidFill>
                <a:latin typeface="Arimo" pitchFamily="34" charset="0"/>
                <a:ea typeface="Arimo" pitchFamily="34" charset="-122"/>
                <a:cs typeface="Arimo" pitchFamily="34" charset="-120"/>
              </a:rPr>
              <a:t>تم</a:t>
            </a:r>
            <a:r>
              <a:rPr lang="en-US" sz="800" b="1" dirty="0">
                <a:solidFill>
                  <a:srgbClr val="D9E1FF"/>
                </a:solidFill>
                <a:latin typeface="Arimo" pitchFamily="34" charset="0"/>
                <a:ea typeface="Arimo" pitchFamily="34" charset="-122"/>
                <a:cs typeface="Arimo" pitchFamily="34" charset="-120"/>
              </a:rPr>
              <a:t> </a:t>
            </a:r>
            <a:r>
              <a:rPr lang="en-US" sz="800" b="1" dirty="0" err="1">
                <a:solidFill>
                  <a:srgbClr val="D9E1FF"/>
                </a:solidFill>
                <a:latin typeface="Arimo" pitchFamily="34" charset="0"/>
                <a:ea typeface="Arimo" pitchFamily="34" charset="-122"/>
                <a:cs typeface="Arimo" pitchFamily="34" charset="-120"/>
              </a:rPr>
              <a:t>الحل</a:t>
            </a:r>
            <a:r>
              <a:rPr lang="en-US" sz="800" b="1" dirty="0">
                <a:solidFill>
                  <a:srgbClr val="D9E1FF"/>
                </a:solidFill>
                <a:latin typeface="Arimo" pitchFamily="34" charset="0"/>
                <a:ea typeface="Arimo" pitchFamily="34" charset="-122"/>
                <a:cs typeface="Arimo" pitchFamily="34" charset="-120"/>
              </a:rPr>
              <a:t>.</a:t>
            </a:r>
            <a:endParaRPr lang="en-US" sz="800" b="1" dirty="0"/>
          </a:p>
        </p:txBody>
      </p:sp>
      <p:sp>
        <p:nvSpPr>
          <p:cNvPr id="15" name="Text 12"/>
          <p:cNvSpPr/>
          <p:nvPr/>
        </p:nvSpPr>
        <p:spPr>
          <a:xfrm>
            <a:off x="7907105" y="4135406"/>
            <a:ext cx="951076" cy="151814"/>
          </a:xfrm>
          <a:prstGeom prst="rect">
            <a:avLst/>
          </a:prstGeom>
          <a:noFill/>
          <a:ln/>
        </p:spPr>
        <p:txBody>
          <a:bodyPr wrap="none" lIns="0" tIns="0" rIns="0" bIns="0" rtlCol="0" anchor="t"/>
          <a:lstStyle/>
          <a:p>
            <a:pPr marL="0" indent="0" algn="r" rtl="1">
              <a:lnSpc>
                <a:spcPts val="1200"/>
              </a:lnSpc>
              <a:buNone/>
            </a:pPr>
            <a:r>
              <a:rPr lang="en-US" sz="950" b="1" dirty="0">
                <a:solidFill>
                  <a:srgbClr val="D9E1FF"/>
                </a:solidFill>
                <a:latin typeface="Simplified Arabic" panose="02020603050405020304" pitchFamily="18" charset="-78"/>
                <a:ea typeface="Syne Bold" pitchFamily="34" charset="-122"/>
                <a:cs typeface="Simplified Arabic" panose="02020603050405020304" pitchFamily="18" charset="-78"/>
              </a:rPr>
              <a:t>التحديد التلقائي للموقع</a:t>
            </a:r>
            <a:endParaRPr lang="en-US" sz="950" dirty="0">
              <a:latin typeface="Simplified Arabic" panose="02020603050405020304" pitchFamily="18" charset="-78"/>
              <a:cs typeface="Simplified Arabic" panose="02020603050405020304" pitchFamily="18" charset="-78"/>
            </a:endParaRPr>
          </a:p>
        </p:txBody>
      </p:sp>
      <p:pic>
        <p:nvPicPr>
          <p:cNvPr id="29" name="Graphic 28" descr="Camera with solid fill">
            <a:extLst>
              <a:ext uri="{FF2B5EF4-FFF2-40B4-BE49-F238E27FC236}">
                <a16:creationId xmlns:a16="http://schemas.microsoft.com/office/drawing/2014/main" id="{6D1A3287-339A-85B0-AE69-D11C591EA7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77881" y="1879985"/>
            <a:ext cx="489936" cy="489936"/>
          </a:xfrm>
          <a:prstGeom prst="rect">
            <a:avLst/>
          </a:prstGeom>
        </p:spPr>
      </p:pic>
      <p:pic>
        <p:nvPicPr>
          <p:cNvPr id="31" name="Graphic 30" descr="Send with solid fill">
            <a:extLst>
              <a:ext uri="{FF2B5EF4-FFF2-40B4-BE49-F238E27FC236}">
                <a16:creationId xmlns:a16="http://schemas.microsoft.com/office/drawing/2014/main" id="{8D77712A-61C2-29C1-7C35-89C6122841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24706" y="2616881"/>
            <a:ext cx="454311" cy="454311"/>
          </a:xfrm>
          <a:prstGeom prst="rect">
            <a:avLst/>
          </a:prstGeom>
        </p:spPr>
      </p:pic>
      <p:pic>
        <p:nvPicPr>
          <p:cNvPr id="33" name="Graphic 32" descr="Right pointing backhand index with solid fill">
            <a:extLst>
              <a:ext uri="{FF2B5EF4-FFF2-40B4-BE49-F238E27FC236}">
                <a16:creationId xmlns:a16="http://schemas.microsoft.com/office/drawing/2014/main" id="{A6697587-956F-6DF6-3603-4142ABE9807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6200000">
            <a:off x="4713436" y="1852826"/>
            <a:ext cx="483812" cy="483812"/>
          </a:xfrm>
          <a:prstGeom prst="rect">
            <a:avLst/>
          </a:prstGeom>
        </p:spPr>
      </p:pic>
      <p:pic>
        <p:nvPicPr>
          <p:cNvPr id="35" name="Graphic 34" descr="Marker with solid fill">
            <a:extLst>
              <a:ext uri="{FF2B5EF4-FFF2-40B4-BE49-F238E27FC236}">
                <a16:creationId xmlns:a16="http://schemas.microsoft.com/office/drawing/2014/main" id="{9D04BC76-60EC-6CFC-59FC-A3DA3480663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32318" y="2616881"/>
            <a:ext cx="554952" cy="554952"/>
          </a:xfrm>
          <a:prstGeom prst="rect">
            <a:avLst/>
          </a:prstGeom>
        </p:spPr>
      </p:pic>
      <p:sp>
        <p:nvSpPr>
          <p:cNvPr id="27" name="TextBox 26">
            <a:extLst>
              <a:ext uri="{FF2B5EF4-FFF2-40B4-BE49-F238E27FC236}">
                <a16:creationId xmlns:a16="http://schemas.microsoft.com/office/drawing/2014/main" id="{2ABC1819-0002-0627-C547-028C55C9801A}"/>
              </a:ext>
            </a:extLst>
          </p:cNvPr>
          <p:cNvSpPr txBox="1"/>
          <p:nvPr/>
        </p:nvSpPr>
        <p:spPr>
          <a:xfrm>
            <a:off x="2286000" y="2379171"/>
            <a:ext cx="4572000" cy="369332"/>
          </a:xfrm>
          <a:prstGeom prst="rect">
            <a:avLst/>
          </a:prstGeom>
          <a:noFill/>
        </p:spPr>
        <p:txBody>
          <a:bodyPr wrap="square">
            <a:spAutoFit/>
          </a:bodyPr>
          <a:lstStyle/>
          <a:p>
            <a:endParaRPr lang="en-US" dirty="0"/>
          </a:p>
        </p:txBody>
      </p:sp>
      <p:pic>
        <p:nvPicPr>
          <p:cNvPr id="32" name="Picture 31">
            <a:extLst>
              <a:ext uri="{FF2B5EF4-FFF2-40B4-BE49-F238E27FC236}">
                <a16:creationId xmlns:a16="http://schemas.microsoft.com/office/drawing/2014/main" id="{2C2C4A0B-028E-18B6-BDED-E74411E270FE}"/>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40000" contrast="-40000"/>
                    </a14:imgEffect>
                  </a14:imgLayer>
                </a14:imgProps>
              </a:ext>
            </a:extLst>
          </a:blip>
          <a:stretch>
            <a:fillRect/>
          </a:stretch>
        </p:blipFill>
        <p:spPr>
          <a:xfrm>
            <a:off x="0" y="-7914"/>
            <a:ext cx="2614393" cy="51514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962609" y="465554"/>
            <a:ext cx="2196485" cy="350639"/>
          </a:xfrm>
          <a:prstGeom prst="rect">
            <a:avLst/>
          </a:prstGeom>
          <a:solidFill>
            <a:srgbClr val="F8F8F8">
              <a:alpha val="10196"/>
            </a:srgbClr>
          </a:solidFill>
          <a:ln>
            <a:solidFill>
              <a:schemeClr val="tx1"/>
            </a:solidFill>
          </a:ln>
        </p:spPr>
        <p:txBody>
          <a:bodyPr wrap="none" lIns="0" tIns="0" rIns="0" bIns="0" rtlCol="0" anchor="t"/>
          <a:lstStyle/>
          <a:p>
            <a:pPr marL="0" indent="0" algn="ctr" rtl="1">
              <a:lnSpc>
                <a:spcPts val="2750"/>
              </a:lnSpc>
              <a:buNone/>
            </a:pPr>
            <a:r>
              <a:rPr lang="en-US" sz="2200" b="1" dirty="0">
                <a:solidFill>
                  <a:srgbClr val="FFFFFF"/>
                </a:solidFill>
                <a:latin typeface="Simplified Arabic" panose="02020603050405020304" pitchFamily="18" charset="-78"/>
                <a:ea typeface="Syne Bold" pitchFamily="34" charset="-122"/>
                <a:cs typeface="Simplified Arabic" panose="02020603050405020304" pitchFamily="18" charset="-78"/>
              </a:rPr>
              <a:t>صفحة المساهمون</a:t>
            </a:r>
            <a:endParaRPr lang="en-US" sz="2200" dirty="0">
              <a:latin typeface="Simplified Arabic" panose="02020603050405020304" pitchFamily="18" charset="-78"/>
              <a:cs typeface="Simplified Arabic" panose="02020603050405020304" pitchFamily="18" charset="-78"/>
            </a:endParaRPr>
          </a:p>
        </p:txBody>
      </p:sp>
      <p:sp>
        <p:nvSpPr>
          <p:cNvPr id="3" name="Text 1"/>
          <p:cNvSpPr/>
          <p:nvPr/>
        </p:nvSpPr>
        <p:spPr>
          <a:xfrm>
            <a:off x="7774656" y="1325249"/>
            <a:ext cx="1052308" cy="252695"/>
          </a:xfrm>
          <a:prstGeom prst="rect">
            <a:avLst/>
          </a:prstGeom>
          <a:noFill/>
          <a:ln/>
        </p:spPr>
        <p:txBody>
          <a:bodyPr wrap="none" lIns="0" tIns="0" rIns="0" bIns="0" rtlCol="0" anchor="t"/>
          <a:lstStyle/>
          <a:p>
            <a:pPr marL="342900" indent="-342900" algn="ctr" rtl="1">
              <a:lnSpc>
                <a:spcPts val="1350"/>
              </a:lnSpc>
              <a:buFont typeface="Courier New" panose="02070309020205020404" pitchFamily="49" charset="0"/>
              <a:buChar char="o"/>
            </a:pPr>
            <a:r>
              <a:rPr lang="en-US" sz="1600" b="1" dirty="0">
                <a:solidFill>
                  <a:srgbClr val="FFFFFF"/>
                </a:solidFill>
                <a:latin typeface="Sakkal Majalla" panose="02000000000000000000" pitchFamily="2" charset="-78"/>
                <a:ea typeface="Syne Bold" pitchFamily="34" charset="-122"/>
                <a:cs typeface="Sakkal Majalla" panose="02000000000000000000" pitchFamily="2" charset="-78"/>
              </a:rPr>
              <a:t>قادة التغيير</a:t>
            </a:r>
            <a:endParaRPr lang="en-US" sz="1600" dirty="0">
              <a:latin typeface="Sakkal Majalla" panose="02000000000000000000" pitchFamily="2" charset="-78"/>
              <a:cs typeface="Sakkal Majalla" panose="02000000000000000000" pitchFamily="2" charset="-78"/>
            </a:endParaRPr>
          </a:p>
        </p:txBody>
      </p:sp>
      <p:sp>
        <p:nvSpPr>
          <p:cNvPr id="4" name="Text 2"/>
          <p:cNvSpPr/>
          <p:nvPr/>
        </p:nvSpPr>
        <p:spPr>
          <a:xfrm>
            <a:off x="2978386" y="1601874"/>
            <a:ext cx="5765011" cy="350639"/>
          </a:xfrm>
          <a:prstGeom prst="rect">
            <a:avLst/>
          </a:prstGeom>
          <a:noFill/>
          <a:ln/>
        </p:spPr>
        <p:txBody>
          <a:bodyPr wrap="square" lIns="0" tIns="0" rIns="0" bIns="0" rtlCol="0" anchor="t"/>
          <a:lstStyle/>
          <a:p>
            <a:pPr marL="0" indent="0" algn="r" rtl="1">
              <a:lnSpc>
                <a:spcPts val="1300"/>
              </a:lnSpc>
              <a:buNone/>
            </a:pPr>
            <a:r>
              <a:rPr lang="en-US" sz="1200" dirty="0" err="1">
                <a:solidFill>
                  <a:srgbClr val="D9E1FF"/>
                </a:solidFill>
                <a:latin typeface="Arimo" pitchFamily="34" charset="0"/>
                <a:ea typeface="Arimo" pitchFamily="34" charset="-122"/>
                <a:cs typeface="Arimo" pitchFamily="34" charset="-120"/>
              </a:rPr>
              <a:t>قاع</a:t>
            </a:r>
            <a:r>
              <a:rPr lang="ar-JO" sz="1200" dirty="0">
                <a:solidFill>
                  <a:srgbClr val="D9E1FF"/>
                </a:solidFill>
                <a:latin typeface="Arimo" pitchFamily="34" charset="0"/>
                <a:ea typeface="Arimo" pitchFamily="34" charset="-122"/>
                <a:cs typeface="Arimo" pitchFamily="34" charset="-120"/>
              </a:rPr>
              <a:t>دة</a:t>
            </a:r>
            <a:r>
              <a:rPr lang="en-US" sz="1200" dirty="0">
                <a:solidFill>
                  <a:srgbClr val="D9E1FF"/>
                </a:solidFill>
                <a:latin typeface="Arimo" pitchFamily="34" charset="0"/>
                <a:ea typeface="Arimo" pitchFamily="34" charset="-122"/>
                <a:cs typeface="Arimo" pitchFamily="34" charset="-120"/>
              </a:rPr>
              <a:t> شرف رقمية تعرض أكثر المواطنين نشاطاً مع </a:t>
            </a:r>
            <a:r>
              <a:rPr lang="en-US" sz="1200" dirty="0" err="1">
                <a:solidFill>
                  <a:srgbClr val="D9E1FF"/>
                </a:solidFill>
                <a:latin typeface="Arimo" pitchFamily="34" charset="0"/>
                <a:ea typeface="Arimo" pitchFamily="34" charset="-122"/>
                <a:cs typeface="Arimo" pitchFamily="34" charset="-120"/>
              </a:rPr>
              <a:t>شاراتهم</a:t>
            </a:r>
            <a:r>
              <a:rPr lang="en-US" sz="1200" dirty="0">
                <a:solidFill>
                  <a:srgbClr val="D9E1FF"/>
                </a:solidFill>
                <a:latin typeface="Arimo" pitchFamily="34" charset="0"/>
                <a:ea typeface="Arimo" pitchFamily="34" charset="-122"/>
                <a:cs typeface="Arimo" pitchFamily="34" charset="-120"/>
              </a:rPr>
              <a:t> </a:t>
            </a:r>
            <a:r>
              <a:rPr lang="ar-JO" sz="1200" dirty="0">
                <a:solidFill>
                  <a:srgbClr val="D9E1FF"/>
                </a:solidFill>
                <a:latin typeface="Arimo" pitchFamily="34" charset="0"/>
                <a:ea typeface="Arimo" pitchFamily="34" charset="-122"/>
                <a:cs typeface="Arimo" pitchFamily="34" charset="-120"/>
              </a:rPr>
              <a:t>والقابهم المكتسبة </a:t>
            </a:r>
            <a:r>
              <a:rPr lang="en-US" sz="1200" dirty="0" err="1">
                <a:solidFill>
                  <a:srgbClr val="D9E1FF"/>
                </a:solidFill>
                <a:latin typeface="Arimo" pitchFamily="34" charset="0"/>
                <a:ea typeface="Arimo" pitchFamily="34" charset="-122"/>
                <a:cs typeface="Arimo" pitchFamily="34" charset="-120"/>
              </a:rPr>
              <a:t>وعدد</a:t>
            </a:r>
            <a:r>
              <a:rPr lang="en-US" sz="1200" dirty="0">
                <a:solidFill>
                  <a:srgbClr val="D9E1FF"/>
                </a:solidFill>
                <a:latin typeface="Arimo" pitchFamily="34" charset="0"/>
                <a:ea typeface="Arimo" pitchFamily="34" charset="-122"/>
                <a:cs typeface="Arimo" pitchFamily="34" charset="-120"/>
              </a:rPr>
              <a:t> البلاغات المحلولة.</a:t>
            </a:r>
            <a:endParaRPr lang="en-US" sz="1200" dirty="0"/>
          </a:p>
        </p:txBody>
      </p:sp>
      <p:sp>
        <p:nvSpPr>
          <p:cNvPr id="5" name="Text 3"/>
          <p:cNvSpPr/>
          <p:nvPr/>
        </p:nvSpPr>
        <p:spPr>
          <a:xfrm>
            <a:off x="7142408" y="2098374"/>
            <a:ext cx="1660400" cy="183547"/>
          </a:xfrm>
          <a:prstGeom prst="rect">
            <a:avLst/>
          </a:prstGeom>
          <a:noFill/>
          <a:ln/>
        </p:spPr>
        <p:txBody>
          <a:bodyPr wrap="none" lIns="0" tIns="0" rIns="0" bIns="0" rtlCol="0" anchor="t"/>
          <a:lstStyle/>
          <a:p>
            <a:pPr marL="342900" indent="-342900" algn="r" rtl="1">
              <a:lnSpc>
                <a:spcPts val="1350"/>
              </a:lnSpc>
              <a:buFont typeface="Courier New" panose="02070309020205020404" pitchFamily="49" charset="0"/>
              <a:buChar char="o"/>
            </a:pPr>
            <a:r>
              <a:rPr lang="en-US" sz="1600" b="1" dirty="0">
                <a:solidFill>
                  <a:srgbClr val="FFFFFF"/>
                </a:solidFill>
                <a:latin typeface="Sakkal Majalla" panose="02000000000000000000" pitchFamily="2" charset="-78"/>
                <a:ea typeface="Syne Bold" pitchFamily="34" charset="-122"/>
                <a:cs typeface="Sakkal Majalla" panose="02000000000000000000" pitchFamily="2" charset="-78"/>
              </a:rPr>
              <a:t>الإنجازات الميدانية</a:t>
            </a:r>
            <a:endParaRPr lang="en-US" sz="1600" dirty="0">
              <a:latin typeface="Sakkal Majalla" panose="02000000000000000000" pitchFamily="2" charset="-78"/>
              <a:cs typeface="Sakkal Majalla" panose="02000000000000000000" pitchFamily="2" charset="-78"/>
            </a:endParaRPr>
          </a:p>
        </p:txBody>
      </p:sp>
      <p:sp>
        <p:nvSpPr>
          <p:cNvPr id="6" name="Text 4"/>
          <p:cNvSpPr/>
          <p:nvPr/>
        </p:nvSpPr>
        <p:spPr>
          <a:xfrm>
            <a:off x="5485229" y="2348346"/>
            <a:ext cx="3302373" cy="175320"/>
          </a:xfrm>
          <a:prstGeom prst="rect">
            <a:avLst/>
          </a:prstGeom>
          <a:noFill/>
          <a:ln/>
        </p:spPr>
        <p:txBody>
          <a:bodyPr wrap="none" lIns="0" tIns="0" rIns="0" bIns="0" rtlCol="0" anchor="t"/>
          <a:lstStyle/>
          <a:p>
            <a:pPr marL="0" indent="0" algn="r" rtl="1">
              <a:lnSpc>
                <a:spcPts val="1300"/>
              </a:lnSpc>
              <a:buNone/>
            </a:pPr>
            <a:r>
              <a:rPr lang="en-US" sz="1200" dirty="0">
                <a:solidFill>
                  <a:srgbClr val="D9E1FF"/>
                </a:solidFill>
                <a:latin typeface="Arimo" pitchFamily="34" charset="0"/>
                <a:ea typeface="Arimo" pitchFamily="34" charset="-122"/>
                <a:cs typeface="Arimo" pitchFamily="34" charset="-120"/>
              </a:rPr>
              <a:t>معرض قبل وبعد يُثبت أن كل بلاغ يتحول إلى حل حقيقي على أرض الواقع.</a:t>
            </a:r>
            <a:endParaRPr lang="en-US" sz="1200" dirty="0"/>
          </a:p>
        </p:txBody>
      </p:sp>
      <p:sp>
        <p:nvSpPr>
          <p:cNvPr id="7" name="Text 5"/>
          <p:cNvSpPr/>
          <p:nvPr/>
        </p:nvSpPr>
        <p:spPr>
          <a:xfrm>
            <a:off x="5764111" y="2763328"/>
            <a:ext cx="3062804" cy="231885"/>
          </a:xfrm>
          <a:prstGeom prst="rect">
            <a:avLst/>
          </a:prstGeom>
          <a:noFill/>
          <a:ln/>
        </p:spPr>
        <p:txBody>
          <a:bodyPr wrap="none" lIns="0" tIns="0" rIns="0" bIns="0" rtlCol="0" anchor="t"/>
          <a:lstStyle/>
          <a:p>
            <a:pPr marL="285750" indent="-285750" algn="r" rtl="1">
              <a:lnSpc>
                <a:spcPts val="1350"/>
              </a:lnSpc>
              <a:buFont typeface="Courier New" panose="02070309020205020404" pitchFamily="49" charset="0"/>
              <a:buChar char="o"/>
            </a:pPr>
            <a:r>
              <a:rPr lang="en-US" sz="1600" b="1" dirty="0" err="1">
                <a:solidFill>
                  <a:srgbClr val="FFFFFF"/>
                </a:solidFill>
                <a:latin typeface="Sakkal Majalla" panose="02000000000000000000" pitchFamily="2" charset="-78"/>
                <a:ea typeface="Syne Bold" pitchFamily="34" charset="-122"/>
                <a:cs typeface="Sakkal Majalla" panose="02000000000000000000" pitchFamily="2" charset="-78"/>
              </a:rPr>
              <a:t>اللجان</a:t>
            </a:r>
            <a:r>
              <a:rPr lang="en-US" sz="1600" b="1" dirty="0">
                <a:solidFill>
                  <a:srgbClr val="FFFFFF"/>
                </a:solidFill>
                <a:latin typeface="Sakkal Majalla" panose="02000000000000000000" pitchFamily="2" charset="-78"/>
                <a:ea typeface="Syne Bold" pitchFamily="34" charset="-122"/>
                <a:cs typeface="Sakkal Majalla" panose="02000000000000000000" pitchFamily="2" charset="-78"/>
              </a:rPr>
              <a:t> </a:t>
            </a:r>
            <a:r>
              <a:rPr lang="en-US" sz="1600" b="1" dirty="0" err="1">
                <a:solidFill>
                  <a:srgbClr val="FFFFFF"/>
                </a:solidFill>
                <a:latin typeface="Sakkal Majalla" panose="02000000000000000000" pitchFamily="2" charset="-78"/>
                <a:ea typeface="Syne Bold" pitchFamily="34" charset="-122"/>
                <a:cs typeface="Sakkal Majalla" panose="02000000000000000000" pitchFamily="2" charset="-78"/>
              </a:rPr>
              <a:t>الاجتماعية</a:t>
            </a:r>
            <a:r>
              <a:rPr lang="ar-JO" sz="1600" b="1" dirty="0">
                <a:solidFill>
                  <a:srgbClr val="FFFFFF"/>
                </a:solidFill>
                <a:latin typeface="Sakkal Majalla" panose="02000000000000000000" pitchFamily="2" charset="-78"/>
                <a:ea typeface="Syne Bold" pitchFamily="34" charset="-122"/>
                <a:cs typeface="Sakkal Majalla" panose="02000000000000000000" pitchFamily="2" charset="-78"/>
              </a:rPr>
              <a:t> وطلب الانتساب لها</a:t>
            </a:r>
            <a:endParaRPr lang="en-US" sz="1600" dirty="0">
              <a:latin typeface="Sakkal Majalla" panose="02000000000000000000" pitchFamily="2" charset="-78"/>
              <a:cs typeface="Sakkal Majalla" panose="02000000000000000000" pitchFamily="2" charset="-78"/>
            </a:endParaRPr>
          </a:p>
        </p:txBody>
      </p:sp>
      <p:sp>
        <p:nvSpPr>
          <p:cNvPr id="8" name="Text 6"/>
          <p:cNvSpPr/>
          <p:nvPr/>
        </p:nvSpPr>
        <p:spPr>
          <a:xfrm>
            <a:off x="4756150" y="2981639"/>
            <a:ext cx="4024980" cy="883681"/>
          </a:xfrm>
          <a:prstGeom prst="rect">
            <a:avLst/>
          </a:prstGeom>
          <a:noFill/>
          <a:ln/>
        </p:spPr>
        <p:txBody>
          <a:bodyPr wrap="square" lIns="0" tIns="0" rIns="0" bIns="0" rtlCol="0" anchor="t"/>
          <a:lstStyle/>
          <a:p>
            <a:pPr marL="0" indent="0" algn="r" rtl="1">
              <a:lnSpc>
                <a:spcPts val="1300"/>
              </a:lnSpc>
              <a:buNone/>
            </a:pPr>
            <a:r>
              <a:rPr lang="en-US" sz="1200" dirty="0">
                <a:solidFill>
                  <a:srgbClr val="D9E1FF"/>
                </a:solidFill>
                <a:latin typeface="Arimo" pitchFamily="34" charset="0"/>
                <a:ea typeface="Arimo" pitchFamily="34" charset="-122"/>
                <a:cs typeface="Arimo" pitchFamily="34" charset="-120"/>
              </a:rPr>
              <a:t>مجموعات متطوعة تراجع البلاغات </a:t>
            </a:r>
            <a:r>
              <a:rPr lang="en-US" sz="1200" dirty="0" err="1">
                <a:solidFill>
                  <a:srgbClr val="D9E1FF"/>
                </a:solidFill>
                <a:latin typeface="Arimo" pitchFamily="34" charset="0"/>
                <a:ea typeface="Arimo" pitchFamily="34" charset="-122"/>
                <a:cs typeface="Arimo" pitchFamily="34" charset="-120"/>
              </a:rPr>
              <a:t>محلياً</a:t>
            </a:r>
            <a:r>
              <a:rPr lang="en-US" sz="1200" dirty="0">
                <a:solidFill>
                  <a:srgbClr val="D9E1FF"/>
                </a:solidFill>
                <a:latin typeface="Arimo" pitchFamily="34" charset="0"/>
                <a:ea typeface="Arimo" pitchFamily="34" charset="-122"/>
                <a:cs typeface="Arimo" pitchFamily="34" charset="-120"/>
              </a:rPr>
              <a:t> </a:t>
            </a:r>
            <a:r>
              <a:rPr lang="ar-JO" sz="1200" dirty="0">
                <a:solidFill>
                  <a:srgbClr val="D9E1FF"/>
                </a:solidFill>
                <a:latin typeface="Arimo" pitchFamily="34" charset="0"/>
                <a:ea typeface="Arimo" pitchFamily="34" charset="-122"/>
                <a:cs typeface="Arimo" pitchFamily="34" charset="-120"/>
              </a:rPr>
              <a:t>يمكنها الانتساب بناءًا على عدد نقاطها ومدى تفاعلها </a:t>
            </a:r>
            <a:r>
              <a:rPr lang="en-US" sz="1200" dirty="0" err="1">
                <a:solidFill>
                  <a:srgbClr val="D9E1FF"/>
                </a:solidFill>
                <a:latin typeface="Arimo" pitchFamily="34" charset="0"/>
                <a:ea typeface="Arimo" pitchFamily="34" charset="-122"/>
                <a:cs typeface="Arimo" pitchFamily="34" charset="-120"/>
              </a:rPr>
              <a:t>تنسّق</a:t>
            </a:r>
            <a:r>
              <a:rPr lang="en-US" sz="1200" dirty="0">
                <a:solidFill>
                  <a:srgbClr val="D9E1FF"/>
                </a:solidFill>
                <a:latin typeface="Arimo" pitchFamily="34" charset="0"/>
                <a:ea typeface="Arimo" pitchFamily="34" charset="-122"/>
                <a:cs typeface="Arimo" pitchFamily="34" charset="-120"/>
              </a:rPr>
              <a:t> مع فرق الصيانة لضمان </a:t>
            </a:r>
            <a:r>
              <a:rPr lang="en-US" sz="1200" dirty="0" err="1">
                <a:solidFill>
                  <a:srgbClr val="D9E1FF"/>
                </a:solidFill>
                <a:latin typeface="Arimo" pitchFamily="34" charset="0"/>
                <a:ea typeface="Arimo" pitchFamily="34" charset="-122"/>
                <a:cs typeface="Arimo" pitchFamily="34" charset="-120"/>
              </a:rPr>
              <a:t>الدقة</a:t>
            </a:r>
            <a:r>
              <a:rPr lang="en-US" sz="1200" dirty="0">
                <a:solidFill>
                  <a:srgbClr val="D9E1FF"/>
                </a:solidFill>
                <a:latin typeface="Arimo" pitchFamily="34" charset="0"/>
                <a:ea typeface="Arimo" pitchFamily="34" charset="-122"/>
                <a:cs typeface="Arimo" pitchFamily="34" charset="-120"/>
              </a:rPr>
              <a:t> </a:t>
            </a:r>
            <a:r>
              <a:rPr lang="en-US" sz="1200" dirty="0" err="1">
                <a:solidFill>
                  <a:srgbClr val="D9E1FF"/>
                </a:solidFill>
                <a:latin typeface="Arimo" pitchFamily="34" charset="0"/>
                <a:ea typeface="Arimo" pitchFamily="34" charset="-122"/>
                <a:cs typeface="Arimo" pitchFamily="34" charset="-120"/>
              </a:rPr>
              <a:t>والأولوية</a:t>
            </a:r>
            <a:r>
              <a:rPr lang="ar-JO" sz="1200" dirty="0">
                <a:solidFill>
                  <a:srgbClr val="D9E1FF"/>
                </a:solidFill>
                <a:latin typeface="Arimo" pitchFamily="34" charset="0"/>
                <a:ea typeface="Arimo" pitchFamily="34" charset="-122"/>
                <a:cs typeface="Arimo" pitchFamily="34" charset="-120"/>
              </a:rPr>
              <a:t> والمساعدة في التطوع لحل مشاكل البنية التحتية في كل حي </a:t>
            </a:r>
            <a:r>
              <a:rPr lang="en-US" sz="1200" dirty="0">
                <a:solidFill>
                  <a:srgbClr val="D9E1FF"/>
                </a:solidFill>
                <a:latin typeface="Arimo" pitchFamily="34" charset="0"/>
                <a:ea typeface="Arimo" pitchFamily="34" charset="-122"/>
                <a:cs typeface="Arimo" pitchFamily="34" charset="-120"/>
              </a:rPr>
              <a:t>.</a:t>
            </a:r>
            <a:endParaRPr lang="en-US" sz="1200" dirty="0"/>
          </a:p>
        </p:txBody>
      </p:sp>
      <p:grpSp>
        <p:nvGrpSpPr>
          <p:cNvPr id="58" name="Group 57">
            <a:extLst>
              <a:ext uri="{FF2B5EF4-FFF2-40B4-BE49-F238E27FC236}">
                <a16:creationId xmlns:a16="http://schemas.microsoft.com/office/drawing/2014/main" id="{4DD58D84-6C47-5F9F-0331-C3305BCD9812}"/>
              </a:ext>
            </a:extLst>
          </p:cNvPr>
          <p:cNvGrpSpPr/>
          <p:nvPr/>
        </p:nvGrpSpPr>
        <p:grpSpPr>
          <a:xfrm>
            <a:off x="80399" y="2777665"/>
            <a:ext cx="4864477" cy="2404827"/>
            <a:chOff x="274320" y="614934"/>
            <a:chExt cx="8595360" cy="3913632"/>
          </a:xfrm>
        </p:grpSpPr>
        <p:sp>
          <p:nvSpPr>
            <p:cNvPr id="59" name="Shape 3">
              <a:extLst>
                <a:ext uri="{FF2B5EF4-FFF2-40B4-BE49-F238E27FC236}">
                  <a16:creationId xmlns:a16="http://schemas.microsoft.com/office/drawing/2014/main" id="{30A35503-E388-1312-505C-A1411EEF62F4}"/>
                </a:ext>
              </a:extLst>
            </p:cNvPr>
            <p:cNvSpPr>
              <a:spLocks/>
            </p:cNvSpPr>
            <p:nvPr/>
          </p:nvSpPr>
          <p:spPr>
            <a:xfrm>
              <a:off x="2194560" y="3248406"/>
              <a:ext cx="5120640" cy="621792"/>
            </a:xfrm>
            <a:prstGeom prst="rect">
              <a:avLst/>
            </a:prstGeom>
            <a:solidFill>
              <a:srgbClr val="B8D4F0"/>
            </a:solidFill>
            <a:ln w="19050">
              <a:solidFill>
                <a:srgbClr val="FFFFFF"/>
              </a:solidFill>
              <a:prstDash val="solid"/>
            </a:ln>
          </p:spPr>
          <p:txBody>
            <a:bodyPr/>
            <a:lstStyle/>
            <a:p>
              <a:endParaRPr lang="en-US"/>
            </a:p>
          </p:txBody>
        </p:sp>
        <p:sp>
          <p:nvSpPr>
            <p:cNvPr id="60" name="Text 4">
              <a:extLst>
                <a:ext uri="{FF2B5EF4-FFF2-40B4-BE49-F238E27FC236}">
                  <a16:creationId xmlns:a16="http://schemas.microsoft.com/office/drawing/2014/main" id="{3FC73806-E770-675D-BBAD-391E64930BF1}"/>
                </a:ext>
              </a:extLst>
            </p:cNvPr>
            <p:cNvSpPr>
              <a:spLocks/>
            </p:cNvSpPr>
            <p:nvPr/>
          </p:nvSpPr>
          <p:spPr>
            <a:xfrm>
              <a:off x="2286000" y="3284982"/>
              <a:ext cx="4937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400" b="1" dirty="0">
                  <a:solidFill>
                    <a:srgbClr val="1A2A5E"/>
                  </a:solidFill>
                  <a:latin typeface="Arial" pitchFamily="34" charset="0"/>
                  <a:ea typeface="Arial" pitchFamily="34" charset="-122"/>
                  <a:cs typeface="Arial" pitchFamily="34" charset="-120"/>
                </a:rPr>
                <a:t>مستكشف</a:t>
              </a:r>
              <a:endParaRPr lang="en-US" sz="1400" dirty="0"/>
            </a:p>
          </p:txBody>
        </p:sp>
        <p:sp>
          <p:nvSpPr>
            <p:cNvPr id="61" name="Text 5">
              <a:extLst>
                <a:ext uri="{FF2B5EF4-FFF2-40B4-BE49-F238E27FC236}">
                  <a16:creationId xmlns:a16="http://schemas.microsoft.com/office/drawing/2014/main" id="{59AC086E-076D-F17C-631E-CDDFCCAFFB88}"/>
                </a:ext>
              </a:extLst>
            </p:cNvPr>
            <p:cNvSpPr>
              <a:spLocks/>
            </p:cNvSpPr>
            <p:nvPr/>
          </p:nvSpPr>
          <p:spPr>
            <a:xfrm>
              <a:off x="2286000" y="3586734"/>
              <a:ext cx="493776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800" dirty="0">
                  <a:solidFill>
                    <a:srgbClr val="1A2A5E"/>
                  </a:solidFill>
                  <a:latin typeface="Arial" pitchFamily="34" charset="0"/>
                  <a:ea typeface="Arial" pitchFamily="34" charset="-122"/>
                  <a:cs typeface="Arial" pitchFamily="34" charset="-120"/>
                </a:rPr>
                <a:t>أول 5 بلاغات</a:t>
              </a:r>
              <a:endParaRPr lang="en-US" sz="800" dirty="0"/>
            </a:p>
          </p:txBody>
        </p:sp>
        <p:sp>
          <p:nvSpPr>
            <p:cNvPr id="62" name="Shape 6">
              <a:extLst>
                <a:ext uri="{FF2B5EF4-FFF2-40B4-BE49-F238E27FC236}">
                  <a16:creationId xmlns:a16="http://schemas.microsoft.com/office/drawing/2014/main" id="{1A81DE07-99FC-1878-2DC7-276126FB6CE7}"/>
                </a:ext>
              </a:extLst>
            </p:cNvPr>
            <p:cNvSpPr>
              <a:spLocks/>
            </p:cNvSpPr>
            <p:nvPr/>
          </p:nvSpPr>
          <p:spPr>
            <a:xfrm>
              <a:off x="2423160" y="2590038"/>
              <a:ext cx="4297680" cy="621792"/>
            </a:xfrm>
            <a:prstGeom prst="rect">
              <a:avLst/>
            </a:prstGeom>
            <a:solidFill>
              <a:srgbClr val="2B4590"/>
            </a:solidFill>
            <a:ln w="19050">
              <a:solidFill>
                <a:srgbClr val="FFFFFF"/>
              </a:solidFill>
              <a:prstDash val="solid"/>
            </a:ln>
          </p:spPr>
          <p:txBody>
            <a:bodyPr/>
            <a:lstStyle/>
            <a:p>
              <a:endParaRPr lang="en-US" dirty="0"/>
            </a:p>
          </p:txBody>
        </p:sp>
        <p:sp>
          <p:nvSpPr>
            <p:cNvPr id="63" name="Text 7">
              <a:extLst>
                <a:ext uri="{FF2B5EF4-FFF2-40B4-BE49-F238E27FC236}">
                  <a16:creationId xmlns:a16="http://schemas.microsoft.com/office/drawing/2014/main" id="{65FC656E-8954-D87F-15B2-1E08E8D407DA}"/>
                </a:ext>
              </a:extLst>
            </p:cNvPr>
            <p:cNvSpPr>
              <a:spLocks/>
            </p:cNvSpPr>
            <p:nvPr/>
          </p:nvSpPr>
          <p:spPr>
            <a:xfrm>
              <a:off x="2514600" y="2626614"/>
              <a:ext cx="4114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400" b="1" dirty="0">
                  <a:solidFill>
                    <a:srgbClr val="FFFFFF"/>
                  </a:solidFill>
                  <a:latin typeface="Arial" pitchFamily="34" charset="0"/>
                  <a:ea typeface="Arial" pitchFamily="34" charset="-122"/>
                  <a:cs typeface="Arial" pitchFamily="34" charset="-120"/>
                </a:rPr>
                <a:t>مراقب</a:t>
              </a:r>
              <a:endParaRPr lang="en-US" sz="1400" dirty="0"/>
            </a:p>
          </p:txBody>
        </p:sp>
        <p:sp>
          <p:nvSpPr>
            <p:cNvPr id="64" name="Text 8">
              <a:extLst>
                <a:ext uri="{FF2B5EF4-FFF2-40B4-BE49-F238E27FC236}">
                  <a16:creationId xmlns:a16="http://schemas.microsoft.com/office/drawing/2014/main" id="{1E0894C7-FE48-5EED-9B43-B0DA0A9BB5B7}"/>
                </a:ext>
              </a:extLst>
            </p:cNvPr>
            <p:cNvSpPr>
              <a:spLocks/>
            </p:cNvSpPr>
            <p:nvPr/>
          </p:nvSpPr>
          <p:spPr>
            <a:xfrm>
              <a:off x="2514600" y="2928366"/>
              <a:ext cx="41148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800" dirty="0">
                  <a:solidFill>
                    <a:srgbClr val="FFFFFF"/>
                  </a:solidFill>
                  <a:latin typeface="Arial" pitchFamily="34" charset="0"/>
                  <a:ea typeface="Arial" pitchFamily="34" charset="-122"/>
                  <a:cs typeface="Arial" pitchFamily="34" charset="-120"/>
                </a:rPr>
                <a:t>10 بلاغات محلولة</a:t>
              </a:r>
              <a:endParaRPr lang="en-US" sz="800" dirty="0"/>
            </a:p>
          </p:txBody>
        </p:sp>
        <p:sp>
          <p:nvSpPr>
            <p:cNvPr id="65" name="Shape 9">
              <a:extLst>
                <a:ext uri="{FF2B5EF4-FFF2-40B4-BE49-F238E27FC236}">
                  <a16:creationId xmlns:a16="http://schemas.microsoft.com/office/drawing/2014/main" id="{AB4E57AD-AAA5-887C-C440-6C635EF9906B}"/>
                </a:ext>
              </a:extLst>
            </p:cNvPr>
            <p:cNvSpPr>
              <a:spLocks/>
            </p:cNvSpPr>
            <p:nvPr/>
          </p:nvSpPr>
          <p:spPr>
            <a:xfrm>
              <a:off x="2834640" y="1931670"/>
              <a:ext cx="3474720" cy="621792"/>
            </a:xfrm>
            <a:prstGeom prst="rect">
              <a:avLst/>
            </a:prstGeom>
            <a:solidFill>
              <a:srgbClr val="1A2A5E"/>
            </a:solidFill>
            <a:ln w="19050">
              <a:solidFill>
                <a:srgbClr val="FFFFFF"/>
              </a:solidFill>
              <a:prstDash val="solid"/>
            </a:ln>
          </p:spPr>
          <p:txBody>
            <a:bodyPr/>
            <a:lstStyle/>
            <a:p>
              <a:endParaRPr lang="en-US"/>
            </a:p>
          </p:txBody>
        </p:sp>
        <p:sp>
          <p:nvSpPr>
            <p:cNvPr id="66" name="Text 10">
              <a:extLst>
                <a:ext uri="{FF2B5EF4-FFF2-40B4-BE49-F238E27FC236}">
                  <a16:creationId xmlns:a16="http://schemas.microsoft.com/office/drawing/2014/main" id="{03447926-5AB5-FEA1-39B7-C12212E6474A}"/>
                </a:ext>
              </a:extLst>
            </p:cNvPr>
            <p:cNvSpPr>
              <a:spLocks/>
            </p:cNvSpPr>
            <p:nvPr/>
          </p:nvSpPr>
          <p:spPr>
            <a:xfrm>
              <a:off x="2926080" y="1968246"/>
              <a:ext cx="32918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400" b="1" dirty="0">
                  <a:solidFill>
                    <a:srgbClr val="FFFFFF"/>
                  </a:solidFill>
                  <a:latin typeface="Arial" pitchFamily="34" charset="0"/>
                  <a:ea typeface="Arial" pitchFamily="34" charset="-122"/>
                  <a:cs typeface="Arial" pitchFamily="34" charset="-120"/>
                </a:rPr>
                <a:t>ناشط</a:t>
              </a:r>
              <a:endParaRPr lang="en-US" sz="1400" dirty="0"/>
            </a:p>
          </p:txBody>
        </p:sp>
        <p:sp>
          <p:nvSpPr>
            <p:cNvPr id="67" name="Text 11">
              <a:extLst>
                <a:ext uri="{FF2B5EF4-FFF2-40B4-BE49-F238E27FC236}">
                  <a16:creationId xmlns:a16="http://schemas.microsoft.com/office/drawing/2014/main" id="{C882CA51-99EF-EB20-2763-3278928ACBA5}"/>
                </a:ext>
              </a:extLst>
            </p:cNvPr>
            <p:cNvSpPr>
              <a:spLocks/>
            </p:cNvSpPr>
            <p:nvPr/>
          </p:nvSpPr>
          <p:spPr>
            <a:xfrm>
              <a:off x="2926080" y="2269998"/>
              <a:ext cx="329184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800" dirty="0">
                  <a:solidFill>
                    <a:srgbClr val="FFFFFF"/>
                  </a:solidFill>
                  <a:latin typeface="Arial" pitchFamily="34" charset="0"/>
                  <a:ea typeface="Arial" pitchFamily="34" charset="-122"/>
                  <a:cs typeface="Arial" pitchFamily="34" charset="-120"/>
                </a:rPr>
                <a:t>25 بلاغاً + 3 قضايا عاجلة</a:t>
              </a:r>
              <a:endParaRPr lang="en-US" sz="800" dirty="0"/>
            </a:p>
          </p:txBody>
        </p:sp>
        <p:sp>
          <p:nvSpPr>
            <p:cNvPr id="68" name="Shape 12">
              <a:extLst>
                <a:ext uri="{FF2B5EF4-FFF2-40B4-BE49-F238E27FC236}">
                  <a16:creationId xmlns:a16="http://schemas.microsoft.com/office/drawing/2014/main" id="{95E4C58D-0841-9812-0EC1-DF43F5EF4537}"/>
                </a:ext>
              </a:extLst>
            </p:cNvPr>
            <p:cNvSpPr>
              <a:spLocks/>
            </p:cNvSpPr>
            <p:nvPr/>
          </p:nvSpPr>
          <p:spPr>
            <a:xfrm>
              <a:off x="3246120" y="1273302"/>
              <a:ext cx="2651760" cy="621792"/>
            </a:xfrm>
            <a:prstGeom prst="rect">
              <a:avLst/>
            </a:prstGeom>
            <a:solidFill>
              <a:srgbClr val="B8952A"/>
            </a:solidFill>
            <a:ln w="19050">
              <a:solidFill>
                <a:srgbClr val="FFFFFF"/>
              </a:solidFill>
              <a:prstDash val="solid"/>
            </a:ln>
          </p:spPr>
          <p:txBody>
            <a:bodyPr/>
            <a:lstStyle/>
            <a:p>
              <a:endParaRPr lang="en-US"/>
            </a:p>
          </p:txBody>
        </p:sp>
        <p:sp>
          <p:nvSpPr>
            <p:cNvPr id="69" name="Text 13">
              <a:extLst>
                <a:ext uri="{FF2B5EF4-FFF2-40B4-BE49-F238E27FC236}">
                  <a16:creationId xmlns:a16="http://schemas.microsoft.com/office/drawing/2014/main" id="{62D4B9CF-C0F5-F1BB-08D0-1A24E3720216}"/>
                </a:ext>
              </a:extLst>
            </p:cNvPr>
            <p:cNvSpPr>
              <a:spLocks/>
            </p:cNvSpPr>
            <p:nvPr/>
          </p:nvSpPr>
          <p:spPr>
            <a:xfrm>
              <a:off x="3337560" y="1309878"/>
              <a:ext cx="246888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400" b="1" dirty="0">
                  <a:solidFill>
                    <a:srgbClr val="1A2A5E"/>
                  </a:solidFill>
                  <a:latin typeface="Arial" pitchFamily="34" charset="0"/>
                  <a:ea typeface="Arial" pitchFamily="34" charset="-122"/>
                  <a:cs typeface="Arial" pitchFamily="34" charset="-120"/>
                </a:rPr>
                <a:t>قائد حي</a:t>
              </a:r>
              <a:endParaRPr lang="en-US" sz="1400" dirty="0"/>
            </a:p>
          </p:txBody>
        </p:sp>
        <p:sp>
          <p:nvSpPr>
            <p:cNvPr id="70" name="Text 14">
              <a:extLst>
                <a:ext uri="{FF2B5EF4-FFF2-40B4-BE49-F238E27FC236}">
                  <a16:creationId xmlns:a16="http://schemas.microsoft.com/office/drawing/2014/main" id="{04679EC1-4E35-2C06-3D3A-12904094E387}"/>
                </a:ext>
              </a:extLst>
            </p:cNvPr>
            <p:cNvSpPr>
              <a:spLocks/>
            </p:cNvSpPr>
            <p:nvPr/>
          </p:nvSpPr>
          <p:spPr>
            <a:xfrm>
              <a:off x="3337560" y="1611630"/>
              <a:ext cx="246888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800" dirty="0">
                  <a:solidFill>
                    <a:srgbClr val="1A2A5E"/>
                  </a:solidFill>
                  <a:latin typeface="Arial" pitchFamily="34" charset="0"/>
                  <a:ea typeface="Arial" pitchFamily="34" charset="-122"/>
                  <a:cs typeface="Arial" pitchFamily="34" charset="-120"/>
                </a:rPr>
                <a:t>50 بلاغاً + تقييم 4★</a:t>
              </a:r>
              <a:endParaRPr lang="en-US" sz="800" dirty="0"/>
            </a:p>
          </p:txBody>
        </p:sp>
        <p:sp>
          <p:nvSpPr>
            <p:cNvPr id="71" name="Shape 15">
              <a:extLst>
                <a:ext uri="{FF2B5EF4-FFF2-40B4-BE49-F238E27FC236}">
                  <a16:creationId xmlns:a16="http://schemas.microsoft.com/office/drawing/2014/main" id="{A2B92C55-6C8B-BFFC-0466-27A85A2A2F22}"/>
                </a:ext>
              </a:extLst>
            </p:cNvPr>
            <p:cNvSpPr>
              <a:spLocks/>
            </p:cNvSpPr>
            <p:nvPr/>
          </p:nvSpPr>
          <p:spPr>
            <a:xfrm>
              <a:off x="3657600" y="614934"/>
              <a:ext cx="1828800" cy="621792"/>
            </a:xfrm>
            <a:prstGeom prst="rect">
              <a:avLst/>
            </a:prstGeom>
            <a:solidFill>
              <a:srgbClr val="D4A017"/>
            </a:solidFill>
            <a:ln w="19050">
              <a:solidFill>
                <a:srgbClr val="FFFFFF"/>
              </a:solidFill>
              <a:prstDash val="solid"/>
            </a:ln>
          </p:spPr>
          <p:txBody>
            <a:bodyPr/>
            <a:lstStyle/>
            <a:p>
              <a:endParaRPr lang="en-US"/>
            </a:p>
          </p:txBody>
        </p:sp>
        <p:sp>
          <p:nvSpPr>
            <p:cNvPr id="72" name="Text 16">
              <a:extLst>
                <a:ext uri="{FF2B5EF4-FFF2-40B4-BE49-F238E27FC236}">
                  <a16:creationId xmlns:a16="http://schemas.microsoft.com/office/drawing/2014/main" id="{7CD3E802-6615-4452-9663-8CD408024172}"/>
                </a:ext>
              </a:extLst>
            </p:cNvPr>
            <p:cNvSpPr>
              <a:spLocks/>
            </p:cNvSpPr>
            <p:nvPr/>
          </p:nvSpPr>
          <p:spPr>
            <a:xfrm>
              <a:off x="3749040" y="651510"/>
              <a:ext cx="164592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400" b="1" dirty="0">
                  <a:solidFill>
                    <a:srgbClr val="1A2A5E"/>
                  </a:solidFill>
                  <a:latin typeface="Arial" pitchFamily="34" charset="0"/>
                  <a:ea typeface="Arial" pitchFamily="34" charset="-122"/>
                  <a:cs typeface="Arial" pitchFamily="34" charset="-120"/>
                </a:rPr>
                <a:t>بطل المدينة</a:t>
              </a:r>
              <a:endParaRPr lang="en-US" sz="1400" dirty="0"/>
            </a:p>
          </p:txBody>
        </p:sp>
        <p:sp>
          <p:nvSpPr>
            <p:cNvPr id="73" name="Text 17">
              <a:extLst>
                <a:ext uri="{FF2B5EF4-FFF2-40B4-BE49-F238E27FC236}">
                  <a16:creationId xmlns:a16="http://schemas.microsoft.com/office/drawing/2014/main" id="{863B3300-5F65-9A30-713F-A9DE9BEE7327}"/>
                </a:ext>
              </a:extLst>
            </p:cNvPr>
            <p:cNvSpPr>
              <a:spLocks/>
            </p:cNvSpPr>
            <p:nvPr/>
          </p:nvSpPr>
          <p:spPr>
            <a:xfrm>
              <a:off x="3749040" y="953262"/>
              <a:ext cx="164592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900" dirty="0">
                  <a:solidFill>
                    <a:srgbClr val="1A2A5E"/>
                  </a:solidFill>
                  <a:latin typeface="Arial" pitchFamily="34" charset="0"/>
                  <a:ea typeface="Arial" pitchFamily="34" charset="-122"/>
                  <a:cs typeface="Arial" pitchFamily="34" charset="-120"/>
                </a:rPr>
                <a:t>100 بلاغ + أعلى تأثير</a:t>
              </a:r>
              <a:endParaRPr lang="en-US" sz="900" dirty="0"/>
            </a:p>
          </p:txBody>
        </p:sp>
        <p:sp>
          <p:nvSpPr>
            <p:cNvPr id="74" name="Shape 18">
              <a:extLst>
                <a:ext uri="{FF2B5EF4-FFF2-40B4-BE49-F238E27FC236}">
                  <a16:creationId xmlns:a16="http://schemas.microsoft.com/office/drawing/2014/main" id="{C51C1D90-1605-CD5B-3DB7-1020A7228DF1}"/>
                </a:ext>
              </a:extLst>
            </p:cNvPr>
            <p:cNvSpPr>
              <a:spLocks/>
            </p:cNvSpPr>
            <p:nvPr/>
          </p:nvSpPr>
          <p:spPr>
            <a:xfrm>
              <a:off x="1719072" y="3422142"/>
              <a:ext cx="329184" cy="329184"/>
            </a:xfrm>
            <a:prstGeom prst="ellipse">
              <a:avLst/>
            </a:prstGeom>
            <a:solidFill>
              <a:srgbClr val="1A2A5E"/>
            </a:solidFill>
            <a:ln w="19050">
              <a:solidFill>
                <a:srgbClr val="FFFFFF"/>
              </a:solidFill>
              <a:prstDash val="solid"/>
            </a:ln>
          </p:spPr>
          <p:txBody>
            <a:bodyPr/>
            <a:lstStyle/>
            <a:p>
              <a:endParaRPr lang="en-US"/>
            </a:p>
          </p:txBody>
        </p:sp>
        <p:sp>
          <p:nvSpPr>
            <p:cNvPr id="75" name="Text 19">
              <a:extLst>
                <a:ext uri="{FF2B5EF4-FFF2-40B4-BE49-F238E27FC236}">
                  <a16:creationId xmlns:a16="http://schemas.microsoft.com/office/drawing/2014/main" id="{6DE22CB4-857C-D90D-6EE9-5D3F03FCAE17}"/>
                </a:ext>
              </a:extLst>
            </p:cNvPr>
            <p:cNvSpPr>
              <a:spLocks/>
            </p:cNvSpPr>
            <p:nvPr/>
          </p:nvSpPr>
          <p:spPr>
            <a:xfrm>
              <a:off x="1719072" y="3422142"/>
              <a:ext cx="329184" cy="32918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6" name="Shape 20">
              <a:extLst>
                <a:ext uri="{FF2B5EF4-FFF2-40B4-BE49-F238E27FC236}">
                  <a16:creationId xmlns:a16="http://schemas.microsoft.com/office/drawing/2014/main" id="{6F20B42A-4AB2-01B3-D666-181F88F60177}"/>
                </a:ext>
              </a:extLst>
            </p:cNvPr>
            <p:cNvSpPr>
              <a:spLocks/>
            </p:cNvSpPr>
            <p:nvPr/>
          </p:nvSpPr>
          <p:spPr>
            <a:xfrm>
              <a:off x="1947672" y="2763774"/>
              <a:ext cx="329184" cy="329184"/>
            </a:xfrm>
            <a:prstGeom prst="ellipse">
              <a:avLst/>
            </a:prstGeom>
            <a:solidFill>
              <a:srgbClr val="1A2A5E"/>
            </a:solidFill>
            <a:ln w="19050">
              <a:solidFill>
                <a:srgbClr val="FFFFFF"/>
              </a:solidFill>
              <a:prstDash val="solid"/>
            </a:ln>
          </p:spPr>
          <p:txBody>
            <a:bodyPr/>
            <a:lstStyle/>
            <a:p>
              <a:endParaRPr lang="en-US"/>
            </a:p>
          </p:txBody>
        </p:sp>
        <p:sp>
          <p:nvSpPr>
            <p:cNvPr id="77" name="Text 21">
              <a:extLst>
                <a:ext uri="{FF2B5EF4-FFF2-40B4-BE49-F238E27FC236}">
                  <a16:creationId xmlns:a16="http://schemas.microsoft.com/office/drawing/2014/main" id="{6D2B9A32-022A-FD04-9680-F0197737825D}"/>
                </a:ext>
              </a:extLst>
            </p:cNvPr>
            <p:cNvSpPr>
              <a:spLocks/>
            </p:cNvSpPr>
            <p:nvPr/>
          </p:nvSpPr>
          <p:spPr>
            <a:xfrm>
              <a:off x="1947672" y="2763774"/>
              <a:ext cx="329184" cy="32918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78" name="Shape 22">
              <a:extLst>
                <a:ext uri="{FF2B5EF4-FFF2-40B4-BE49-F238E27FC236}">
                  <a16:creationId xmlns:a16="http://schemas.microsoft.com/office/drawing/2014/main" id="{BCD12328-44D1-7F6E-A971-CA5E49035E14}"/>
                </a:ext>
              </a:extLst>
            </p:cNvPr>
            <p:cNvSpPr>
              <a:spLocks/>
            </p:cNvSpPr>
            <p:nvPr/>
          </p:nvSpPr>
          <p:spPr>
            <a:xfrm>
              <a:off x="2359152" y="2105406"/>
              <a:ext cx="329184" cy="329184"/>
            </a:xfrm>
            <a:prstGeom prst="ellipse">
              <a:avLst/>
            </a:prstGeom>
            <a:solidFill>
              <a:srgbClr val="1A2A5E"/>
            </a:solidFill>
            <a:ln w="19050">
              <a:solidFill>
                <a:srgbClr val="FFFFFF"/>
              </a:solidFill>
              <a:prstDash val="solid"/>
            </a:ln>
          </p:spPr>
          <p:txBody>
            <a:bodyPr/>
            <a:lstStyle/>
            <a:p>
              <a:endParaRPr lang="en-US"/>
            </a:p>
          </p:txBody>
        </p:sp>
        <p:sp>
          <p:nvSpPr>
            <p:cNvPr id="79" name="Text 23">
              <a:extLst>
                <a:ext uri="{FF2B5EF4-FFF2-40B4-BE49-F238E27FC236}">
                  <a16:creationId xmlns:a16="http://schemas.microsoft.com/office/drawing/2014/main" id="{E0CFA070-D4BE-CA6D-9057-8077453EF265}"/>
                </a:ext>
              </a:extLst>
            </p:cNvPr>
            <p:cNvSpPr>
              <a:spLocks/>
            </p:cNvSpPr>
            <p:nvPr/>
          </p:nvSpPr>
          <p:spPr>
            <a:xfrm>
              <a:off x="2359152" y="2105406"/>
              <a:ext cx="329184" cy="32918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80" name="Shape 24">
              <a:extLst>
                <a:ext uri="{FF2B5EF4-FFF2-40B4-BE49-F238E27FC236}">
                  <a16:creationId xmlns:a16="http://schemas.microsoft.com/office/drawing/2014/main" id="{94136A19-D9D9-5763-E2E4-C7D69D3EF6D4}"/>
                </a:ext>
              </a:extLst>
            </p:cNvPr>
            <p:cNvSpPr>
              <a:spLocks/>
            </p:cNvSpPr>
            <p:nvPr/>
          </p:nvSpPr>
          <p:spPr>
            <a:xfrm>
              <a:off x="2770632" y="1447038"/>
              <a:ext cx="329184" cy="329184"/>
            </a:xfrm>
            <a:prstGeom prst="ellipse">
              <a:avLst/>
            </a:prstGeom>
            <a:solidFill>
              <a:srgbClr val="1A2A5E"/>
            </a:solidFill>
            <a:ln w="19050">
              <a:solidFill>
                <a:srgbClr val="FFFFFF"/>
              </a:solidFill>
              <a:prstDash val="solid"/>
            </a:ln>
          </p:spPr>
          <p:txBody>
            <a:bodyPr/>
            <a:lstStyle/>
            <a:p>
              <a:endParaRPr lang="en-US"/>
            </a:p>
          </p:txBody>
        </p:sp>
        <p:sp>
          <p:nvSpPr>
            <p:cNvPr id="81" name="Text 25">
              <a:extLst>
                <a:ext uri="{FF2B5EF4-FFF2-40B4-BE49-F238E27FC236}">
                  <a16:creationId xmlns:a16="http://schemas.microsoft.com/office/drawing/2014/main" id="{F05F2128-6EAC-9EDF-975F-27271E07AADC}"/>
                </a:ext>
              </a:extLst>
            </p:cNvPr>
            <p:cNvSpPr>
              <a:spLocks/>
            </p:cNvSpPr>
            <p:nvPr/>
          </p:nvSpPr>
          <p:spPr>
            <a:xfrm>
              <a:off x="2770632" y="1447038"/>
              <a:ext cx="329184" cy="32918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82" name="Shape 26">
              <a:extLst>
                <a:ext uri="{FF2B5EF4-FFF2-40B4-BE49-F238E27FC236}">
                  <a16:creationId xmlns:a16="http://schemas.microsoft.com/office/drawing/2014/main" id="{5A5B3238-6295-044A-B4BD-4F77990EC69E}"/>
                </a:ext>
              </a:extLst>
            </p:cNvPr>
            <p:cNvSpPr>
              <a:spLocks/>
            </p:cNvSpPr>
            <p:nvPr/>
          </p:nvSpPr>
          <p:spPr>
            <a:xfrm>
              <a:off x="3182112" y="788670"/>
              <a:ext cx="329184" cy="329184"/>
            </a:xfrm>
            <a:prstGeom prst="ellipse">
              <a:avLst/>
            </a:prstGeom>
            <a:solidFill>
              <a:srgbClr val="1A2A5E"/>
            </a:solidFill>
            <a:ln w="19050">
              <a:solidFill>
                <a:srgbClr val="FFFFFF"/>
              </a:solidFill>
              <a:prstDash val="solid"/>
            </a:ln>
          </p:spPr>
          <p:txBody>
            <a:bodyPr/>
            <a:lstStyle/>
            <a:p>
              <a:endParaRPr lang="en-US"/>
            </a:p>
          </p:txBody>
        </p:sp>
        <p:sp>
          <p:nvSpPr>
            <p:cNvPr id="83" name="Text 27">
              <a:extLst>
                <a:ext uri="{FF2B5EF4-FFF2-40B4-BE49-F238E27FC236}">
                  <a16:creationId xmlns:a16="http://schemas.microsoft.com/office/drawing/2014/main" id="{15952B7E-7206-262F-4A88-75F7CE5273C8}"/>
                </a:ext>
              </a:extLst>
            </p:cNvPr>
            <p:cNvSpPr>
              <a:spLocks/>
            </p:cNvSpPr>
            <p:nvPr/>
          </p:nvSpPr>
          <p:spPr>
            <a:xfrm>
              <a:off x="3182112" y="788670"/>
              <a:ext cx="329184" cy="32918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84" name="Shape 28">
              <a:extLst>
                <a:ext uri="{FF2B5EF4-FFF2-40B4-BE49-F238E27FC236}">
                  <a16:creationId xmlns:a16="http://schemas.microsoft.com/office/drawing/2014/main" id="{57A8D35E-997E-777D-0332-6FFA01BE0AC5}"/>
                </a:ext>
              </a:extLst>
            </p:cNvPr>
            <p:cNvSpPr>
              <a:spLocks/>
            </p:cNvSpPr>
            <p:nvPr/>
          </p:nvSpPr>
          <p:spPr>
            <a:xfrm>
              <a:off x="274320" y="752094"/>
              <a:ext cx="1280160" cy="3383280"/>
            </a:xfrm>
            <a:prstGeom prst="rect">
              <a:avLst/>
            </a:prstGeom>
            <a:solidFill>
              <a:srgbClr val="FFFFFF"/>
            </a:solidFill>
            <a:ln w="6350">
              <a:solidFill>
                <a:srgbClr val="E0E8F5"/>
              </a:solidFill>
              <a:prstDash val="solid"/>
            </a:ln>
            <a:effectLst>
              <a:outerShdw blurRad="101600" dist="25400" dir="8100000" algn="bl" rotWithShape="0">
                <a:srgbClr val="000000">
                  <a:alpha val="8000"/>
                </a:srgbClr>
              </a:outerShdw>
            </a:effectLst>
          </p:spPr>
          <p:txBody>
            <a:bodyPr/>
            <a:lstStyle/>
            <a:p>
              <a:endParaRPr lang="en-US"/>
            </a:p>
          </p:txBody>
        </p:sp>
        <p:sp>
          <p:nvSpPr>
            <p:cNvPr id="85" name="Shape 29">
              <a:extLst>
                <a:ext uri="{FF2B5EF4-FFF2-40B4-BE49-F238E27FC236}">
                  <a16:creationId xmlns:a16="http://schemas.microsoft.com/office/drawing/2014/main" id="{5D0E0AEE-98B5-43BC-BFCC-4BE3626FCC22}"/>
                </a:ext>
              </a:extLst>
            </p:cNvPr>
            <p:cNvSpPr>
              <a:spLocks/>
            </p:cNvSpPr>
            <p:nvPr/>
          </p:nvSpPr>
          <p:spPr>
            <a:xfrm>
              <a:off x="274320" y="752094"/>
              <a:ext cx="1280160" cy="64008"/>
            </a:xfrm>
            <a:prstGeom prst="rect">
              <a:avLst/>
            </a:prstGeom>
            <a:solidFill>
              <a:srgbClr val="B8952A"/>
            </a:solidFill>
            <a:ln w="12700">
              <a:solidFill>
                <a:srgbClr val="B8952A"/>
              </a:solidFill>
              <a:prstDash val="solid"/>
            </a:ln>
          </p:spPr>
          <p:txBody>
            <a:bodyPr/>
            <a:lstStyle/>
            <a:p>
              <a:endParaRPr lang="en-US"/>
            </a:p>
          </p:txBody>
        </p:sp>
        <p:sp>
          <p:nvSpPr>
            <p:cNvPr id="86" name="Text 30">
              <a:extLst>
                <a:ext uri="{FF2B5EF4-FFF2-40B4-BE49-F238E27FC236}">
                  <a16:creationId xmlns:a16="http://schemas.microsoft.com/office/drawing/2014/main" id="{ED6C6650-946B-118B-D420-B1F628612F59}"/>
                </a:ext>
              </a:extLst>
            </p:cNvPr>
            <p:cNvSpPr>
              <a:spLocks/>
            </p:cNvSpPr>
            <p:nvPr/>
          </p:nvSpPr>
          <p:spPr>
            <a:xfrm>
              <a:off x="274320" y="825246"/>
              <a:ext cx="128016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300" b="1" dirty="0">
                  <a:solidFill>
                    <a:srgbClr val="1A2A5E"/>
                  </a:solidFill>
                  <a:latin typeface="Arial" pitchFamily="34" charset="0"/>
                  <a:ea typeface="Arial" pitchFamily="34" charset="-122"/>
                  <a:cs typeface="Arial" pitchFamily="34" charset="-120"/>
                </a:rPr>
                <a:t>الألقاب</a:t>
              </a:r>
              <a:endParaRPr lang="en-US" sz="1300" dirty="0"/>
            </a:p>
          </p:txBody>
        </p:sp>
        <p:sp>
          <p:nvSpPr>
            <p:cNvPr id="87" name="Shape 31">
              <a:extLst>
                <a:ext uri="{FF2B5EF4-FFF2-40B4-BE49-F238E27FC236}">
                  <a16:creationId xmlns:a16="http://schemas.microsoft.com/office/drawing/2014/main" id="{DBE311A9-6B55-5065-7750-BE758E8DAA1A}"/>
                </a:ext>
              </a:extLst>
            </p:cNvPr>
            <p:cNvSpPr>
              <a:spLocks/>
            </p:cNvSpPr>
            <p:nvPr/>
          </p:nvSpPr>
          <p:spPr>
            <a:xfrm>
              <a:off x="411480" y="1255014"/>
              <a:ext cx="1005840" cy="347472"/>
            </a:xfrm>
            <a:prstGeom prst="rect">
              <a:avLst/>
            </a:prstGeom>
            <a:solidFill>
              <a:srgbClr val="B8D4F0"/>
            </a:solidFill>
            <a:ln w="12700">
              <a:solidFill>
                <a:srgbClr val="FFFFFF"/>
              </a:solidFill>
              <a:prstDash val="solid"/>
            </a:ln>
          </p:spPr>
          <p:txBody>
            <a:bodyPr/>
            <a:lstStyle/>
            <a:p>
              <a:endParaRPr lang="en-US"/>
            </a:p>
          </p:txBody>
        </p:sp>
        <p:sp>
          <p:nvSpPr>
            <p:cNvPr id="88" name="Text 32">
              <a:extLst>
                <a:ext uri="{FF2B5EF4-FFF2-40B4-BE49-F238E27FC236}">
                  <a16:creationId xmlns:a16="http://schemas.microsoft.com/office/drawing/2014/main" id="{A354FC96-F74C-82CD-BAF5-1C6D6F988BB9}"/>
                </a:ext>
              </a:extLst>
            </p:cNvPr>
            <p:cNvSpPr>
              <a:spLocks/>
            </p:cNvSpPr>
            <p:nvPr/>
          </p:nvSpPr>
          <p:spPr>
            <a:xfrm>
              <a:off x="411480" y="1255014"/>
              <a:ext cx="10058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050" b="1" dirty="0">
                  <a:solidFill>
                    <a:srgbClr val="1A2A5E"/>
                  </a:solidFill>
                  <a:latin typeface="Arial" pitchFamily="34" charset="0"/>
                  <a:ea typeface="Arial" pitchFamily="34" charset="-122"/>
                  <a:cs typeface="Arial" pitchFamily="34" charset="-120"/>
                </a:rPr>
                <a:t>مستكشف</a:t>
              </a:r>
              <a:endParaRPr lang="en-US" sz="1050" dirty="0"/>
            </a:p>
          </p:txBody>
        </p:sp>
        <p:sp>
          <p:nvSpPr>
            <p:cNvPr id="89" name="Shape 33">
              <a:extLst>
                <a:ext uri="{FF2B5EF4-FFF2-40B4-BE49-F238E27FC236}">
                  <a16:creationId xmlns:a16="http://schemas.microsoft.com/office/drawing/2014/main" id="{64841519-EBD5-FF8D-A944-C345D55A9F94}"/>
                </a:ext>
              </a:extLst>
            </p:cNvPr>
            <p:cNvSpPr>
              <a:spLocks/>
            </p:cNvSpPr>
            <p:nvPr/>
          </p:nvSpPr>
          <p:spPr>
            <a:xfrm>
              <a:off x="411480" y="1821942"/>
              <a:ext cx="1005840" cy="347472"/>
            </a:xfrm>
            <a:prstGeom prst="rect">
              <a:avLst/>
            </a:prstGeom>
            <a:solidFill>
              <a:srgbClr val="2B4590"/>
            </a:solidFill>
            <a:ln w="12700">
              <a:solidFill>
                <a:srgbClr val="FFFFFF"/>
              </a:solidFill>
              <a:prstDash val="solid"/>
            </a:ln>
          </p:spPr>
          <p:txBody>
            <a:bodyPr/>
            <a:lstStyle/>
            <a:p>
              <a:endParaRPr lang="en-US"/>
            </a:p>
          </p:txBody>
        </p:sp>
        <p:sp>
          <p:nvSpPr>
            <p:cNvPr id="90" name="Text 34">
              <a:extLst>
                <a:ext uri="{FF2B5EF4-FFF2-40B4-BE49-F238E27FC236}">
                  <a16:creationId xmlns:a16="http://schemas.microsoft.com/office/drawing/2014/main" id="{E8FBDB99-6F5B-01C7-62FE-A80EA85D54C0}"/>
                </a:ext>
              </a:extLst>
            </p:cNvPr>
            <p:cNvSpPr>
              <a:spLocks/>
            </p:cNvSpPr>
            <p:nvPr/>
          </p:nvSpPr>
          <p:spPr>
            <a:xfrm>
              <a:off x="411480" y="1821942"/>
              <a:ext cx="10058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050" b="1" dirty="0">
                  <a:solidFill>
                    <a:srgbClr val="FFFFFF"/>
                  </a:solidFill>
                  <a:latin typeface="Arial" pitchFamily="34" charset="0"/>
                  <a:ea typeface="Arial" pitchFamily="34" charset="-122"/>
                  <a:cs typeface="Arial" pitchFamily="34" charset="-120"/>
                </a:rPr>
                <a:t>مراقب</a:t>
              </a:r>
              <a:endParaRPr lang="en-US" sz="1050" dirty="0"/>
            </a:p>
          </p:txBody>
        </p:sp>
        <p:sp>
          <p:nvSpPr>
            <p:cNvPr id="91" name="Shape 35">
              <a:extLst>
                <a:ext uri="{FF2B5EF4-FFF2-40B4-BE49-F238E27FC236}">
                  <a16:creationId xmlns:a16="http://schemas.microsoft.com/office/drawing/2014/main" id="{E0BBA9E9-D80E-5CF7-EA0D-D62302873817}"/>
                </a:ext>
              </a:extLst>
            </p:cNvPr>
            <p:cNvSpPr>
              <a:spLocks/>
            </p:cNvSpPr>
            <p:nvPr/>
          </p:nvSpPr>
          <p:spPr>
            <a:xfrm>
              <a:off x="411480" y="2388870"/>
              <a:ext cx="1005840" cy="347472"/>
            </a:xfrm>
            <a:prstGeom prst="rect">
              <a:avLst/>
            </a:prstGeom>
            <a:solidFill>
              <a:srgbClr val="1A2A5E"/>
            </a:solidFill>
            <a:ln w="12700">
              <a:solidFill>
                <a:srgbClr val="FFFFFF"/>
              </a:solidFill>
              <a:prstDash val="solid"/>
            </a:ln>
          </p:spPr>
          <p:txBody>
            <a:bodyPr/>
            <a:lstStyle/>
            <a:p>
              <a:endParaRPr lang="en-US"/>
            </a:p>
          </p:txBody>
        </p:sp>
        <p:sp>
          <p:nvSpPr>
            <p:cNvPr id="92" name="Text 36">
              <a:extLst>
                <a:ext uri="{FF2B5EF4-FFF2-40B4-BE49-F238E27FC236}">
                  <a16:creationId xmlns:a16="http://schemas.microsoft.com/office/drawing/2014/main" id="{5E895A07-9067-14D7-AA47-2897306660DB}"/>
                </a:ext>
              </a:extLst>
            </p:cNvPr>
            <p:cNvSpPr>
              <a:spLocks/>
            </p:cNvSpPr>
            <p:nvPr/>
          </p:nvSpPr>
          <p:spPr>
            <a:xfrm>
              <a:off x="411480" y="2388870"/>
              <a:ext cx="10058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050" b="1" dirty="0">
                  <a:solidFill>
                    <a:srgbClr val="FFFFFF"/>
                  </a:solidFill>
                  <a:latin typeface="Arial" pitchFamily="34" charset="0"/>
                  <a:ea typeface="Arial" pitchFamily="34" charset="-122"/>
                  <a:cs typeface="Arial" pitchFamily="34" charset="-120"/>
                </a:rPr>
                <a:t>ناشط</a:t>
              </a:r>
              <a:endParaRPr lang="en-US" sz="1050" dirty="0"/>
            </a:p>
          </p:txBody>
        </p:sp>
        <p:sp>
          <p:nvSpPr>
            <p:cNvPr id="93" name="Shape 37">
              <a:extLst>
                <a:ext uri="{FF2B5EF4-FFF2-40B4-BE49-F238E27FC236}">
                  <a16:creationId xmlns:a16="http://schemas.microsoft.com/office/drawing/2014/main" id="{748A601F-26EA-89DB-D892-CEBD7B6516FC}"/>
                </a:ext>
              </a:extLst>
            </p:cNvPr>
            <p:cNvSpPr>
              <a:spLocks/>
            </p:cNvSpPr>
            <p:nvPr/>
          </p:nvSpPr>
          <p:spPr>
            <a:xfrm>
              <a:off x="411480" y="2955798"/>
              <a:ext cx="1005840" cy="347472"/>
            </a:xfrm>
            <a:prstGeom prst="rect">
              <a:avLst/>
            </a:prstGeom>
            <a:solidFill>
              <a:srgbClr val="B8952A"/>
            </a:solidFill>
            <a:ln w="12700">
              <a:solidFill>
                <a:srgbClr val="FFFFFF"/>
              </a:solidFill>
              <a:prstDash val="solid"/>
            </a:ln>
          </p:spPr>
          <p:txBody>
            <a:bodyPr/>
            <a:lstStyle/>
            <a:p>
              <a:endParaRPr lang="en-US"/>
            </a:p>
          </p:txBody>
        </p:sp>
        <p:sp>
          <p:nvSpPr>
            <p:cNvPr id="94" name="Text 38">
              <a:extLst>
                <a:ext uri="{FF2B5EF4-FFF2-40B4-BE49-F238E27FC236}">
                  <a16:creationId xmlns:a16="http://schemas.microsoft.com/office/drawing/2014/main" id="{D1330DB0-DBDA-C512-50D4-BE69A4787BAA}"/>
                </a:ext>
              </a:extLst>
            </p:cNvPr>
            <p:cNvSpPr>
              <a:spLocks/>
            </p:cNvSpPr>
            <p:nvPr/>
          </p:nvSpPr>
          <p:spPr>
            <a:xfrm>
              <a:off x="411480" y="2955798"/>
              <a:ext cx="10058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050" b="1" dirty="0">
                  <a:solidFill>
                    <a:srgbClr val="1A2A5E"/>
                  </a:solidFill>
                  <a:latin typeface="Arial" pitchFamily="34" charset="0"/>
                  <a:ea typeface="Arial" pitchFamily="34" charset="-122"/>
                  <a:cs typeface="Arial" pitchFamily="34" charset="-120"/>
                </a:rPr>
                <a:t>قائد حي</a:t>
              </a:r>
              <a:endParaRPr lang="en-US" sz="1050" dirty="0"/>
            </a:p>
          </p:txBody>
        </p:sp>
        <p:sp>
          <p:nvSpPr>
            <p:cNvPr id="95" name="Shape 39">
              <a:extLst>
                <a:ext uri="{FF2B5EF4-FFF2-40B4-BE49-F238E27FC236}">
                  <a16:creationId xmlns:a16="http://schemas.microsoft.com/office/drawing/2014/main" id="{8A4F2812-5F43-D8D0-54D0-EADDCB24E310}"/>
                </a:ext>
              </a:extLst>
            </p:cNvPr>
            <p:cNvSpPr>
              <a:spLocks/>
            </p:cNvSpPr>
            <p:nvPr/>
          </p:nvSpPr>
          <p:spPr>
            <a:xfrm>
              <a:off x="411480" y="3522726"/>
              <a:ext cx="1005840" cy="347472"/>
            </a:xfrm>
            <a:prstGeom prst="rect">
              <a:avLst/>
            </a:prstGeom>
            <a:solidFill>
              <a:srgbClr val="D4A017"/>
            </a:solidFill>
            <a:ln w="12700">
              <a:solidFill>
                <a:srgbClr val="FFFFFF"/>
              </a:solidFill>
              <a:prstDash val="solid"/>
            </a:ln>
          </p:spPr>
          <p:txBody>
            <a:bodyPr/>
            <a:lstStyle/>
            <a:p>
              <a:endParaRPr lang="en-US"/>
            </a:p>
          </p:txBody>
        </p:sp>
        <p:sp>
          <p:nvSpPr>
            <p:cNvPr id="96" name="Text 40">
              <a:extLst>
                <a:ext uri="{FF2B5EF4-FFF2-40B4-BE49-F238E27FC236}">
                  <a16:creationId xmlns:a16="http://schemas.microsoft.com/office/drawing/2014/main" id="{C3A89492-5995-3E89-10DD-89F8202CA4B9}"/>
                </a:ext>
              </a:extLst>
            </p:cNvPr>
            <p:cNvSpPr>
              <a:spLocks/>
            </p:cNvSpPr>
            <p:nvPr/>
          </p:nvSpPr>
          <p:spPr>
            <a:xfrm>
              <a:off x="411480" y="3522726"/>
              <a:ext cx="100584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r>
                <a:rPr lang="en-US" sz="1050" b="1" dirty="0">
                  <a:solidFill>
                    <a:srgbClr val="1A2A5E"/>
                  </a:solidFill>
                  <a:latin typeface="Arial" pitchFamily="34" charset="0"/>
                  <a:ea typeface="Arial" pitchFamily="34" charset="-122"/>
                  <a:cs typeface="Arial" pitchFamily="34" charset="-120"/>
                </a:rPr>
                <a:t>بطل المدينة</a:t>
              </a:r>
              <a:endParaRPr lang="en-US" sz="1050" dirty="0"/>
            </a:p>
          </p:txBody>
        </p:sp>
        <p:sp>
          <p:nvSpPr>
            <p:cNvPr id="97" name="Text 41">
              <a:extLst>
                <a:ext uri="{FF2B5EF4-FFF2-40B4-BE49-F238E27FC236}">
                  <a16:creationId xmlns:a16="http://schemas.microsoft.com/office/drawing/2014/main" id="{DEE1E85C-9B33-E1BA-5C57-7BC19F03FE84}"/>
                </a:ext>
              </a:extLst>
            </p:cNvPr>
            <p:cNvSpPr/>
            <p:nvPr/>
          </p:nvSpPr>
          <p:spPr>
            <a:xfrm>
              <a:off x="274320" y="4208526"/>
              <a:ext cx="8595360" cy="3200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rtl="1">
                <a:buNone/>
              </a:pPr>
              <a:endParaRPr lang="en-US" sz="1250" dirty="0"/>
            </a:p>
          </p:txBody>
        </p:sp>
      </p:grpSp>
      <p:sp>
        <p:nvSpPr>
          <p:cNvPr id="102" name="Text 3">
            <a:extLst>
              <a:ext uri="{FF2B5EF4-FFF2-40B4-BE49-F238E27FC236}">
                <a16:creationId xmlns:a16="http://schemas.microsoft.com/office/drawing/2014/main" id="{D57BDB81-86F3-542A-341F-0E33EC895C3A}"/>
              </a:ext>
            </a:extLst>
          </p:cNvPr>
          <p:cNvSpPr/>
          <p:nvPr/>
        </p:nvSpPr>
        <p:spPr>
          <a:xfrm>
            <a:off x="7500849" y="3742350"/>
            <a:ext cx="1660400" cy="231885"/>
          </a:xfrm>
          <a:prstGeom prst="rect">
            <a:avLst/>
          </a:prstGeom>
          <a:noFill/>
          <a:ln/>
        </p:spPr>
        <p:txBody>
          <a:bodyPr wrap="none" lIns="0" tIns="0" rIns="0" bIns="0" rtlCol="0" anchor="t"/>
          <a:lstStyle/>
          <a:p>
            <a:endParaRPr lang="ar-JO" sz="1600" dirty="0"/>
          </a:p>
        </p:txBody>
      </p:sp>
      <p:sp>
        <p:nvSpPr>
          <p:cNvPr id="104" name="TextBox 103">
            <a:extLst>
              <a:ext uri="{FF2B5EF4-FFF2-40B4-BE49-F238E27FC236}">
                <a16:creationId xmlns:a16="http://schemas.microsoft.com/office/drawing/2014/main" id="{B4CBADC7-EF7F-FBEF-30FD-039ED3B9EE6B}"/>
              </a:ext>
            </a:extLst>
          </p:cNvPr>
          <p:cNvSpPr txBox="1"/>
          <p:nvPr/>
        </p:nvSpPr>
        <p:spPr>
          <a:xfrm>
            <a:off x="4146452" y="2148840"/>
            <a:ext cx="914400" cy="914400"/>
          </a:xfrm>
          <a:prstGeom prst="rect">
            <a:avLst/>
          </a:prstGeom>
          <a:noFill/>
        </p:spPr>
        <p:txBody>
          <a:bodyPr wrap="square" rtlCol="0">
            <a:spAutoFit/>
          </a:bodyPr>
          <a:lstStyle/>
          <a:p>
            <a:endParaRPr lang="en-US" dirty="0"/>
          </a:p>
        </p:txBody>
      </p:sp>
      <p:sp>
        <p:nvSpPr>
          <p:cNvPr id="107" name="TextBox 106">
            <a:extLst>
              <a:ext uri="{FF2B5EF4-FFF2-40B4-BE49-F238E27FC236}">
                <a16:creationId xmlns:a16="http://schemas.microsoft.com/office/drawing/2014/main" id="{22535B3F-C781-3CA7-C2AB-2E9738A29F5A}"/>
              </a:ext>
            </a:extLst>
          </p:cNvPr>
          <p:cNvSpPr txBox="1"/>
          <p:nvPr/>
        </p:nvSpPr>
        <p:spPr>
          <a:xfrm>
            <a:off x="5254603" y="3993800"/>
            <a:ext cx="3645396" cy="759182"/>
          </a:xfrm>
          <a:prstGeom prst="rect">
            <a:avLst/>
          </a:prstGeom>
          <a:noFill/>
        </p:spPr>
        <p:txBody>
          <a:bodyPr wrap="square">
            <a:spAutoFit/>
          </a:bodyPr>
          <a:lstStyle/>
          <a:p>
            <a:pPr algn="r" rtl="1">
              <a:lnSpc>
                <a:spcPts val="1300"/>
              </a:lnSpc>
            </a:pPr>
            <a:r>
              <a:rPr lang="ar-JO" sz="1200" dirty="0">
                <a:solidFill>
                  <a:srgbClr val="D9E1FF"/>
                </a:solidFill>
              </a:rPr>
              <a:t>"توزيع البلاغات جغرافياً يحول البيانات الصماء إلى 'بوصلة رقمية' لصناع القرار؛ فهي تضمن توجيه الموارد والميزانيات للمحافظات الأكثر احتياجاً، وتسمح بمراقبة أداء البلديات بدقة، مما يضمن تحويل كل شكوى مواطن إلى إنجاز ملموس على أرض الواقع</a:t>
            </a:r>
            <a:endParaRPr lang="en-US" sz="1200" dirty="0">
              <a:solidFill>
                <a:srgbClr val="D9E1FF"/>
              </a:solidFill>
            </a:endParaRPr>
          </a:p>
        </p:txBody>
      </p:sp>
      <p:sp>
        <p:nvSpPr>
          <p:cNvPr id="108" name="Text 5">
            <a:extLst>
              <a:ext uri="{FF2B5EF4-FFF2-40B4-BE49-F238E27FC236}">
                <a16:creationId xmlns:a16="http://schemas.microsoft.com/office/drawing/2014/main" id="{D12D38BA-6305-BD17-6BF6-FE6D2241C2D4}"/>
              </a:ext>
            </a:extLst>
          </p:cNvPr>
          <p:cNvSpPr/>
          <p:nvPr/>
        </p:nvSpPr>
        <p:spPr>
          <a:xfrm>
            <a:off x="5738807" y="3783712"/>
            <a:ext cx="3062804" cy="231885"/>
          </a:xfrm>
          <a:prstGeom prst="rect">
            <a:avLst/>
          </a:prstGeom>
          <a:noFill/>
          <a:ln/>
        </p:spPr>
        <p:txBody>
          <a:bodyPr wrap="none" lIns="0" tIns="0" rIns="0" bIns="0" rtlCol="0" anchor="t"/>
          <a:lstStyle/>
          <a:p>
            <a:pPr marL="285750" indent="-285750" algn="r" rtl="1">
              <a:lnSpc>
                <a:spcPts val="1350"/>
              </a:lnSpc>
              <a:buFont typeface="Courier New" panose="02070309020205020404" pitchFamily="49" charset="0"/>
              <a:buChar char="o"/>
            </a:pPr>
            <a:r>
              <a:rPr lang="ar-JO" sz="1600" b="1" dirty="0">
                <a:solidFill>
                  <a:srgbClr val="FFFFFF"/>
                </a:solidFill>
                <a:latin typeface="Sakkal Majalla" panose="02000000000000000000" pitchFamily="2" charset="-78"/>
                <a:ea typeface="Syne Bold" pitchFamily="34" charset="-122"/>
                <a:cs typeface="Sakkal Majalla" panose="02000000000000000000" pitchFamily="2" charset="-78"/>
              </a:rPr>
              <a:t>احصائيات المحافظات</a:t>
            </a:r>
            <a:endParaRPr lang="en-US" sz="1600" dirty="0">
              <a:latin typeface="Sakkal Majalla" panose="02000000000000000000" pitchFamily="2" charset="-78"/>
              <a:cs typeface="Sakkal Majalla" panose="02000000000000000000" pitchFamily="2" charset="-78"/>
            </a:endParaRPr>
          </a:p>
        </p:txBody>
      </p:sp>
      <p:cxnSp>
        <p:nvCxnSpPr>
          <p:cNvPr id="112" name="Straight Connector 111">
            <a:extLst>
              <a:ext uri="{FF2B5EF4-FFF2-40B4-BE49-F238E27FC236}">
                <a16:creationId xmlns:a16="http://schemas.microsoft.com/office/drawing/2014/main" id="{E4B8A828-4932-9096-F99D-B4D3B6E0946D}"/>
              </a:ext>
            </a:extLst>
          </p:cNvPr>
          <p:cNvCxnSpPr>
            <a:cxnSpLocks/>
          </p:cNvCxnSpPr>
          <p:nvPr/>
        </p:nvCxnSpPr>
        <p:spPr>
          <a:xfrm>
            <a:off x="5258024" y="2564790"/>
            <a:ext cx="35689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868783B-404E-AC2A-FB7D-A7BBDC6BE934}"/>
              </a:ext>
            </a:extLst>
          </p:cNvPr>
          <p:cNvCxnSpPr>
            <a:cxnSpLocks/>
          </p:cNvCxnSpPr>
          <p:nvPr/>
        </p:nvCxnSpPr>
        <p:spPr>
          <a:xfrm>
            <a:off x="5233868" y="1873663"/>
            <a:ext cx="35689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8E94C676-4E06-D5B5-6A24-66D90EEE3C5B}"/>
              </a:ext>
            </a:extLst>
          </p:cNvPr>
          <p:cNvCxnSpPr>
            <a:cxnSpLocks/>
          </p:cNvCxnSpPr>
          <p:nvPr/>
        </p:nvCxnSpPr>
        <p:spPr>
          <a:xfrm>
            <a:off x="5258024" y="3647008"/>
            <a:ext cx="35689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6" name="Picture 115">
            <a:extLst>
              <a:ext uri="{FF2B5EF4-FFF2-40B4-BE49-F238E27FC236}">
                <a16:creationId xmlns:a16="http://schemas.microsoft.com/office/drawing/2014/main" id="{CD07C149-151A-6530-C369-6255F88FBAAB}"/>
              </a:ext>
            </a:extLst>
          </p:cNvPr>
          <p:cNvPicPr>
            <a:picLocks noChangeAspect="1"/>
          </p:cNvPicPr>
          <p:nvPr/>
        </p:nvPicPr>
        <p:blipFill>
          <a:blip r:embed="rId3"/>
          <a:stretch>
            <a:fillRect/>
          </a:stretch>
        </p:blipFill>
        <p:spPr>
          <a:xfrm>
            <a:off x="746426" y="993430"/>
            <a:ext cx="2135180" cy="117740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894567" y="454502"/>
            <a:ext cx="3520306" cy="440010"/>
          </a:xfrm>
          <a:prstGeom prst="rect">
            <a:avLst/>
          </a:prstGeom>
          <a:solidFill>
            <a:srgbClr val="F8F8F8">
              <a:alpha val="7843"/>
            </a:srgbClr>
          </a:solidFill>
          <a:ln>
            <a:solidFill>
              <a:schemeClr val="tx1"/>
            </a:solidFill>
          </a:ln>
        </p:spPr>
        <p:txBody>
          <a:bodyPr wrap="none" lIns="0" tIns="0" rIns="0" bIns="0" rtlCol="0" anchor="t"/>
          <a:lstStyle/>
          <a:p>
            <a:pPr marL="0" indent="0" algn="ctr" rtl="1">
              <a:lnSpc>
                <a:spcPts val="3450"/>
              </a:lnSpc>
              <a:buNone/>
            </a:pPr>
            <a:r>
              <a:rPr lang="en-US" sz="2750" b="1" dirty="0">
                <a:solidFill>
                  <a:srgbClr val="FFFFFF"/>
                </a:solidFill>
                <a:latin typeface="Sakkal Majalla" panose="02000000000000000000" pitchFamily="2" charset="-78"/>
                <a:ea typeface="Syne Bold" pitchFamily="34" charset="-122"/>
                <a:cs typeface="Sakkal Majalla" panose="02000000000000000000" pitchFamily="2" charset="-78"/>
              </a:rPr>
              <a:t>صفحة النقاط والمكافآت</a:t>
            </a:r>
            <a:endParaRPr lang="en-US" sz="2750" dirty="0">
              <a:latin typeface="Sakkal Majalla" panose="02000000000000000000" pitchFamily="2" charset="-78"/>
              <a:cs typeface="Sakkal Majalla" panose="02000000000000000000" pitchFamily="2" charset="-78"/>
            </a:endParaRPr>
          </a:p>
        </p:txBody>
      </p:sp>
      <p:sp>
        <p:nvSpPr>
          <p:cNvPr id="4" name="Text 1"/>
          <p:cNvSpPr/>
          <p:nvPr/>
        </p:nvSpPr>
        <p:spPr>
          <a:xfrm>
            <a:off x="7785949" y="1424841"/>
            <a:ext cx="841651" cy="219968"/>
          </a:xfrm>
          <a:prstGeom prst="rect">
            <a:avLst/>
          </a:prstGeom>
          <a:solidFill>
            <a:srgbClr val="F8F8F8">
              <a:alpha val="10196"/>
            </a:srgbClr>
          </a:solidFill>
          <a:ln>
            <a:solidFill>
              <a:schemeClr val="tx1"/>
            </a:solidFill>
          </a:ln>
        </p:spPr>
        <p:txBody>
          <a:bodyPr wrap="none" lIns="0" tIns="0" rIns="0" bIns="0" rtlCol="0" anchor="t"/>
          <a:lstStyle/>
          <a:p>
            <a:pPr marL="0" indent="0" algn="r" rtl="1">
              <a:lnSpc>
                <a:spcPts val="1700"/>
              </a:lnSpc>
              <a:buNone/>
            </a:pP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لوحة</a:t>
            </a:r>
            <a:r>
              <a:rPr lang="en-US" sz="1350" b="1" dirty="0">
                <a:solidFill>
                  <a:srgbClr val="D9E1FF"/>
                </a:solidFill>
                <a:latin typeface="Sakkal Majalla" panose="02000000000000000000" pitchFamily="2" charset="-78"/>
                <a:ea typeface="Syne Bold" pitchFamily="34" charset="-122"/>
                <a:cs typeface="Sakkal Majalla" panose="02000000000000000000" pitchFamily="2" charset="-78"/>
              </a:rPr>
              <a:t> الشرف</a:t>
            </a:r>
            <a:endParaRPr lang="en-US" sz="1350" dirty="0">
              <a:latin typeface="Sakkal Majalla" panose="02000000000000000000" pitchFamily="2" charset="-78"/>
              <a:cs typeface="Sakkal Majalla" panose="02000000000000000000" pitchFamily="2" charset="-78"/>
            </a:endParaRPr>
          </a:p>
        </p:txBody>
      </p:sp>
      <p:sp>
        <p:nvSpPr>
          <p:cNvPr id="5" name="Text 2"/>
          <p:cNvSpPr/>
          <p:nvPr/>
        </p:nvSpPr>
        <p:spPr>
          <a:xfrm>
            <a:off x="6053320" y="1693690"/>
            <a:ext cx="2574280" cy="478780"/>
          </a:xfrm>
          <a:prstGeom prst="rect">
            <a:avLst/>
          </a:prstGeom>
          <a:noFill/>
          <a:ln/>
        </p:spPr>
        <p:txBody>
          <a:bodyPr wrap="square" lIns="0" tIns="0" rIns="0" bIns="0" rtlCol="0" anchor="t"/>
          <a:lstStyle/>
          <a:p>
            <a:pPr marL="0" indent="0" algn="r" rtl="1">
              <a:buNone/>
            </a:pPr>
            <a:r>
              <a:rPr lang="en-US" sz="1150" dirty="0">
                <a:solidFill>
                  <a:srgbClr val="D9E1FF"/>
                </a:solidFill>
                <a:latin typeface="Arimo" pitchFamily="34" charset="0"/>
                <a:ea typeface="Arimo" pitchFamily="34" charset="-122"/>
                <a:cs typeface="Arimo" pitchFamily="34" charset="-120"/>
              </a:rPr>
              <a:t>ترتيب تلقائي حسب النقاط المتراكمة مع تحديث فوري عند حل أي </a:t>
            </a:r>
            <a:r>
              <a:rPr lang="en-US" sz="1150" dirty="0" err="1">
                <a:solidFill>
                  <a:srgbClr val="D9E1FF"/>
                </a:solidFill>
                <a:latin typeface="Arimo" pitchFamily="34" charset="0"/>
                <a:ea typeface="Arimo" pitchFamily="34" charset="-122"/>
                <a:cs typeface="Arimo" pitchFamily="34" charset="-120"/>
              </a:rPr>
              <a:t>بلاغ</a:t>
            </a:r>
            <a:r>
              <a:rPr lang="en-US" sz="1150" dirty="0">
                <a:solidFill>
                  <a:srgbClr val="D9E1FF"/>
                </a:solidFill>
                <a:latin typeface="Arimo" pitchFamily="34" charset="0"/>
                <a:ea typeface="Arimo" pitchFamily="34" charset="-122"/>
                <a:cs typeface="Arimo" pitchFamily="34" charset="-120"/>
              </a:rPr>
              <a:t>.</a:t>
            </a:r>
            <a:r>
              <a:rPr lang="ar-JO" sz="1150" dirty="0">
                <a:solidFill>
                  <a:srgbClr val="D9E1FF"/>
                </a:solidFill>
                <a:latin typeface="Arimo" pitchFamily="34" charset="0"/>
                <a:ea typeface="Arimo" pitchFamily="34" charset="-122"/>
                <a:cs typeface="Arimo" pitchFamily="34" charset="-120"/>
              </a:rPr>
              <a:t> وزيادة العدد التراكمي للنقاط.</a:t>
            </a:r>
            <a:endParaRPr lang="en-US" sz="1150" dirty="0"/>
          </a:p>
        </p:txBody>
      </p:sp>
      <p:sp>
        <p:nvSpPr>
          <p:cNvPr id="7" name="Text 3"/>
          <p:cNvSpPr/>
          <p:nvPr/>
        </p:nvSpPr>
        <p:spPr>
          <a:xfrm>
            <a:off x="3298242" y="1473722"/>
            <a:ext cx="858075" cy="219968"/>
          </a:xfrm>
          <a:prstGeom prst="rect">
            <a:avLst/>
          </a:prstGeom>
          <a:solidFill>
            <a:srgbClr val="F8F8F8">
              <a:alpha val="7843"/>
            </a:srgbClr>
          </a:solidFill>
          <a:ln>
            <a:solidFill>
              <a:schemeClr val="tx1"/>
            </a:solidFill>
          </a:ln>
        </p:spPr>
        <p:txBody>
          <a:bodyPr wrap="none" lIns="0" tIns="0" rIns="0" bIns="0" rtlCol="0" anchor="t"/>
          <a:lstStyle/>
          <a:p>
            <a:pPr marL="0" indent="0" algn="r" rtl="1">
              <a:lnSpc>
                <a:spcPts val="1700"/>
              </a:lnSpc>
              <a:buNone/>
            </a:pP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متجر</a:t>
            </a:r>
            <a:r>
              <a:rPr lang="en-US" sz="1350" b="1" dirty="0">
                <a:solidFill>
                  <a:srgbClr val="D9E1FF"/>
                </a:solidFill>
                <a:latin typeface="Sakkal Majalla" panose="02000000000000000000" pitchFamily="2" charset="-78"/>
                <a:ea typeface="Syne Bold" pitchFamily="34" charset="-122"/>
                <a:cs typeface="Sakkal Majalla" panose="02000000000000000000" pitchFamily="2" charset="-78"/>
              </a:rPr>
              <a:t> المكافآت</a:t>
            </a:r>
            <a:endParaRPr lang="en-US" sz="1350" dirty="0">
              <a:latin typeface="Sakkal Majalla" panose="02000000000000000000" pitchFamily="2" charset="-78"/>
              <a:cs typeface="Sakkal Majalla" panose="02000000000000000000" pitchFamily="2" charset="-78"/>
            </a:endParaRPr>
          </a:p>
        </p:txBody>
      </p:sp>
      <p:sp>
        <p:nvSpPr>
          <p:cNvPr id="8" name="Text 4"/>
          <p:cNvSpPr/>
          <p:nvPr/>
        </p:nvSpPr>
        <p:spPr>
          <a:xfrm>
            <a:off x="1627049" y="1778907"/>
            <a:ext cx="2574280" cy="718170"/>
          </a:xfrm>
          <a:prstGeom prst="rect">
            <a:avLst/>
          </a:prstGeom>
          <a:noFill/>
          <a:ln/>
        </p:spPr>
        <p:txBody>
          <a:bodyPr wrap="square" lIns="0" tIns="0" rIns="0" bIns="0" rtlCol="0" anchor="t"/>
          <a:lstStyle/>
          <a:p>
            <a:pPr marL="0" indent="0" algn="r" rtl="1">
              <a:buNone/>
            </a:pPr>
            <a:r>
              <a:rPr lang="en-US" sz="1150" dirty="0">
                <a:solidFill>
                  <a:srgbClr val="D9E1FF"/>
                </a:solidFill>
                <a:latin typeface="Arimo" pitchFamily="34" charset="0"/>
                <a:ea typeface="Arimo" pitchFamily="34" charset="-122"/>
                <a:cs typeface="Arimo" pitchFamily="34" charset="-120"/>
              </a:rPr>
              <a:t>استبدل نقاطك بخصومات على الرسوم الحكومية وتذاكر المواصلات وقسائم المحلات </a:t>
            </a:r>
            <a:r>
              <a:rPr lang="en-US" sz="1150" dirty="0" err="1">
                <a:solidFill>
                  <a:srgbClr val="D9E1FF"/>
                </a:solidFill>
                <a:latin typeface="Arimo" pitchFamily="34" charset="0"/>
                <a:ea typeface="Arimo" pitchFamily="34" charset="-122"/>
                <a:cs typeface="Arimo" pitchFamily="34" charset="-120"/>
              </a:rPr>
              <a:t>الشريكة</a:t>
            </a:r>
            <a:r>
              <a:rPr lang="en-US" sz="1150" dirty="0">
                <a:solidFill>
                  <a:srgbClr val="D9E1FF"/>
                </a:solidFill>
                <a:latin typeface="Arimo" pitchFamily="34" charset="0"/>
                <a:ea typeface="Arimo" pitchFamily="34" charset="-122"/>
                <a:cs typeface="Arimo" pitchFamily="34" charset="-120"/>
              </a:rPr>
              <a:t>.</a:t>
            </a:r>
            <a:r>
              <a:rPr lang="ar-JO" sz="1150" dirty="0">
                <a:solidFill>
                  <a:srgbClr val="D9E1FF"/>
                </a:solidFill>
                <a:latin typeface="Arimo" pitchFamily="34" charset="0"/>
                <a:ea typeface="Arimo" pitchFamily="34" charset="-122"/>
                <a:cs typeface="Arimo" pitchFamily="34" charset="-120"/>
              </a:rPr>
              <a:t>او شركات الكهرباء</a:t>
            </a:r>
            <a:endParaRPr lang="en-US" sz="1150" dirty="0"/>
          </a:p>
        </p:txBody>
      </p:sp>
      <p:sp>
        <p:nvSpPr>
          <p:cNvPr id="10" name="Text 5"/>
          <p:cNvSpPr/>
          <p:nvPr/>
        </p:nvSpPr>
        <p:spPr>
          <a:xfrm>
            <a:off x="7836843" y="2387093"/>
            <a:ext cx="790757" cy="219968"/>
          </a:xfrm>
          <a:prstGeom prst="rect">
            <a:avLst/>
          </a:prstGeom>
          <a:solidFill>
            <a:srgbClr val="F8F8F8">
              <a:alpha val="7843"/>
            </a:srgbClr>
          </a:solidFill>
          <a:ln>
            <a:solidFill>
              <a:schemeClr val="tx1"/>
            </a:solidFill>
          </a:ln>
        </p:spPr>
        <p:txBody>
          <a:bodyPr wrap="none" lIns="0" tIns="0" rIns="0" bIns="0" rtlCol="0" anchor="t"/>
          <a:lstStyle/>
          <a:p>
            <a:pPr marL="0" indent="0" algn="ctr" rtl="1">
              <a:lnSpc>
                <a:spcPts val="1700"/>
              </a:lnSpc>
              <a:buNone/>
            </a:pP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انجازاتي </a:t>
            </a:r>
            <a:endParaRPr lang="en-US" sz="1350" dirty="0">
              <a:latin typeface="Sakkal Majalla" panose="02000000000000000000" pitchFamily="2" charset="-78"/>
              <a:cs typeface="Sakkal Majalla" panose="02000000000000000000" pitchFamily="2" charset="-78"/>
            </a:endParaRPr>
          </a:p>
        </p:txBody>
      </p:sp>
      <p:sp>
        <p:nvSpPr>
          <p:cNvPr id="11" name="Text 6"/>
          <p:cNvSpPr/>
          <p:nvPr/>
        </p:nvSpPr>
        <p:spPr>
          <a:xfrm>
            <a:off x="4947164" y="2723429"/>
            <a:ext cx="3680436" cy="1072296"/>
          </a:xfrm>
          <a:prstGeom prst="rect">
            <a:avLst/>
          </a:prstGeom>
          <a:noFill/>
          <a:ln/>
        </p:spPr>
        <p:txBody>
          <a:bodyPr wrap="square" lIns="0" tIns="0" rIns="0" bIns="0" rtlCol="0" anchor="t"/>
          <a:lstStyle/>
          <a:p>
            <a:pPr algn="r" rtl="1"/>
            <a:r>
              <a:rPr lang="ar-JO" sz="1100" dirty="0">
                <a:solidFill>
                  <a:srgbClr val="D9E1FF"/>
                </a:solidFill>
              </a:rPr>
              <a:t>يعد قسم انجازاتي لوحة تحكم تفاعلية تمنح المستخدم تجربة تتبع كاملة لبلاغاته؛ حيث توثق البيانات الجغرافية والزمنية لكل مشكلة مرصودة، مع نظام (المسار الزمني) الذي يوضح مراحل المعالجة من الإرسال وحتى التنفيذ. كما يعتمد القسم نظام (النقاط المكتسبة) لتحفيز المواطنين وتقدير دورهم الفاعل في رصد الثغرات وتحسين جودة البنية التحتية.</a:t>
            </a:r>
            <a:endParaRPr lang="en-US" sz="1100" dirty="0">
              <a:solidFill>
                <a:srgbClr val="D9E1FF"/>
              </a:solidFill>
            </a:endParaRPr>
          </a:p>
        </p:txBody>
      </p:sp>
      <p:grpSp>
        <p:nvGrpSpPr>
          <p:cNvPr id="29" name="Group 28">
            <a:extLst>
              <a:ext uri="{FF2B5EF4-FFF2-40B4-BE49-F238E27FC236}">
                <a16:creationId xmlns:a16="http://schemas.microsoft.com/office/drawing/2014/main" id="{908C3A88-AEE3-592F-D729-6FA42E28C7CD}"/>
              </a:ext>
            </a:extLst>
          </p:cNvPr>
          <p:cNvGrpSpPr/>
          <p:nvPr/>
        </p:nvGrpSpPr>
        <p:grpSpPr>
          <a:xfrm>
            <a:off x="3727279" y="3827633"/>
            <a:ext cx="1834536" cy="1105476"/>
            <a:chOff x="6368148" y="2148840"/>
            <a:chExt cx="2563602" cy="1579392"/>
          </a:xfrm>
        </p:grpSpPr>
        <p:pic>
          <p:nvPicPr>
            <p:cNvPr id="23" name="Picture 22">
              <a:extLst>
                <a:ext uri="{FF2B5EF4-FFF2-40B4-BE49-F238E27FC236}">
                  <a16:creationId xmlns:a16="http://schemas.microsoft.com/office/drawing/2014/main" id="{E5755D3C-223A-4B79-53F6-866E64BEAA6B}"/>
                </a:ext>
              </a:extLst>
            </p:cNvPr>
            <p:cNvPicPr>
              <a:picLocks noChangeAspect="1"/>
            </p:cNvPicPr>
            <p:nvPr/>
          </p:nvPicPr>
          <p:blipFill>
            <a:blip r:embed="rId3"/>
            <a:stretch>
              <a:fillRect/>
            </a:stretch>
          </p:blipFill>
          <p:spPr>
            <a:xfrm>
              <a:off x="6368148" y="2148840"/>
              <a:ext cx="2563602" cy="1579392"/>
            </a:xfrm>
            <a:prstGeom prst="rect">
              <a:avLst/>
            </a:prstGeom>
            <a:ln>
              <a:solidFill>
                <a:schemeClr val="tx1"/>
              </a:solidFill>
            </a:ln>
          </p:spPr>
        </p:pic>
        <p:sp>
          <p:nvSpPr>
            <p:cNvPr id="24" name="Oval 23">
              <a:extLst>
                <a:ext uri="{FF2B5EF4-FFF2-40B4-BE49-F238E27FC236}">
                  <a16:creationId xmlns:a16="http://schemas.microsoft.com/office/drawing/2014/main" id="{1BF35EF2-3EAB-43AD-F049-22D670420E04}"/>
                </a:ext>
              </a:extLst>
            </p:cNvPr>
            <p:cNvSpPr>
              <a:spLocks/>
            </p:cNvSpPr>
            <p:nvPr/>
          </p:nvSpPr>
          <p:spPr>
            <a:xfrm>
              <a:off x="7461885" y="2731770"/>
              <a:ext cx="327660" cy="31242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5" name="Oval 24">
              <a:extLst>
                <a:ext uri="{FF2B5EF4-FFF2-40B4-BE49-F238E27FC236}">
                  <a16:creationId xmlns:a16="http://schemas.microsoft.com/office/drawing/2014/main" id="{BBC0C5A4-AF25-681A-8995-6AEFE2986A65}"/>
                </a:ext>
              </a:extLst>
            </p:cNvPr>
            <p:cNvSpPr>
              <a:spLocks/>
            </p:cNvSpPr>
            <p:nvPr/>
          </p:nvSpPr>
          <p:spPr>
            <a:xfrm>
              <a:off x="8255325" y="3067050"/>
              <a:ext cx="327660" cy="31242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ECFEE28C-EAC1-6BA4-5676-BC784DE95E30}"/>
                </a:ext>
              </a:extLst>
            </p:cNvPr>
            <p:cNvSpPr>
              <a:spLocks/>
            </p:cNvSpPr>
            <p:nvPr/>
          </p:nvSpPr>
          <p:spPr>
            <a:xfrm>
              <a:off x="6674987" y="3044190"/>
              <a:ext cx="327660" cy="31242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grpSp>
      <p:pic>
        <p:nvPicPr>
          <p:cNvPr id="28" name="Picture 27">
            <a:extLst>
              <a:ext uri="{FF2B5EF4-FFF2-40B4-BE49-F238E27FC236}">
                <a16:creationId xmlns:a16="http://schemas.microsoft.com/office/drawing/2014/main" id="{E43B8E50-5793-9D49-A4D9-E92A4CBFCB3F}"/>
              </a:ext>
            </a:extLst>
          </p:cNvPr>
          <p:cNvPicPr>
            <a:picLocks noChangeAspect="1"/>
          </p:cNvPicPr>
          <p:nvPr/>
        </p:nvPicPr>
        <p:blipFill>
          <a:blip r:embed="rId4"/>
          <a:stretch>
            <a:fillRect/>
          </a:stretch>
        </p:blipFill>
        <p:spPr>
          <a:xfrm>
            <a:off x="516400" y="3774845"/>
            <a:ext cx="2480705" cy="1177995"/>
          </a:xfrm>
          <a:prstGeom prst="rect">
            <a:avLst/>
          </a:prstGeom>
        </p:spPr>
      </p:pic>
      <p:sp>
        <p:nvSpPr>
          <p:cNvPr id="30" name="Text 3">
            <a:extLst>
              <a:ext uri="{FF2B5EF4-FFF2-40B4-BE49-F238E27FC236}">
                <a16:creationId xmlns:a16="http://schemas.microsoft.com/office/drawing/2014/main" id="{04C6575C-7A0F-0610-C41E-3A17450C74E7}"/>
              </a:ext>
            </a:extLst>
          </p:cNvPr>
          <p:cNvSpPr/>
          <p:nvPr/>
        </p:nvSpPr>
        <p:spPr>
          <a:xfrm>
            <a:off x="3321737" y="2419410"/>
            <a:ext cx="858075" cy="219968"/>
          </a:xfrm>
          <a:prstGeom prst="rect">
            <a:avLst/>
          </a:prstGeom>
          <a:solidFill>
            <a:srgbClr val="F8F8F8">
              <a:alpha val="7843"/>
            </a:srgbClr>
          </a:solidFill>
          <a:ln>
            <a:solidFill>
              <a:schemeClr val="tx1"/>
            </a:solidFill>
          </a:ln>
        </p:spPr>
        <p:txBody>
          <a:bodyPr wrap="none" lIns="0" tIns="0" rIns="0" bIns="0" rtlCol="0" anchor="t"/>
          <a:lstStyle/>
          <a:p>
            <a:pPr marL="0" indent="0" algn="ctr" rtl="1">
              <a:lnSpc>
                <a:spcPts val="1700"/>
              </a:lnSpc>
              <a:buNone/>
            </a:pP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المسار الذهبي</a:t>
            </a:r>
            <a:endParaRPr lang="en-US" sz="1350" dirty="0">
              <a:latin typeface="Sakkal Majalla" panose="02000000000000000000" pitchFamily="2" charset="-78"/>
              <a:cs typeface="Sakkal Majalla" panose="02000000000000000000" pitchFamily="2" charset="-78"/>
            </a:endParaRPr>
          </a:p>
        </p:txBody>
      </p:sp>
      <p:sp>
        <p:nvSpPr>
          <p:cNvPr id="31" name="TextBox 30">
            <a:extLst>
              <a:ext uri="{FF2B5EF4-FFF2-40B4-BE49-F238E27FC236}">
                <a16:creationId xmlns:a16="http://schemas.microsoft.com/office/drawing/2014/main" id="{520B0990-259B-0A47-CD77-2A5A0B4DF9C9}"/>
              </a:ext>
            </a:extLst>
          </p:cNvPr>
          <p:cNvSpPr txBox="1"/>
          <p:nvPr/>
        </p:nvSpPr>
        <p:spPr>
          <a:xfrm>
            <a:off x="606581" y="2673922"/>
            <a:ext cx="3680435" cy="938719"/>
          </a:xfrm>
          <a:prstGeom prst="rect">
            <a:avLst/>
          </a:prstGeom>
          <a:noFill/>
        </p:spPr>
        <p:txBody>
          <a:bodyPr wrap="square" rtlCol="0">
            <a:spAutoFit/>
          </a:bodyPr>
          <a:lstStyle/>
          <a:p>
            <a:pPr algn="r" rtl="1"/>
            <a:r>
              <a:rPr lang="ar-JO" sz="1100" dirty="0">
                <a:solidFill>
                  <a:srgbClr val="D9E1FF"/>
                </a:solidFill>
              </a:rPr>
              <a:t>"ميزة (المسار الذهبي) هي نظام حوافز مبتكر يعتمد على أسلوب التحفيز الرقمي لتعزيز المواطنة الفعّالة؛ حيث يكافئ المستخدمين الأكثر نشاطاً بـ (بطاقة المواطن الفعّال). تمنح هذه البطاقة صاحبها أولوية استثنائية في معالجة بلاغاته وسرعة إنجاز معاملاته الحكومية عبر (المسار السريع)، مما يحول الفرد من مجرد راصد للمشكلات إلى شريك حقيقي ومُقدّر في بناء وتطوير البنية التحتية."</a:t>
            </a:r>
            <a:endParaRPr lang="ar-JO" sz="1100" dirty="0">
              <a:solidFill>
                <a:srgbClr val="D9E1FF"/>
              </a:solidFill>
              <a:effectLst/>
            </a:endParaRPr>
          </a:p>
        </p:txBody>
      </p:sp>
      <p:pic>
        <p:nvPicPr>
          <p:cNvPr id="33" name="Picture 32">
            <a:extLst>
              <a:ext uri="{FF2B5EF4-FFF2-40B4-BE49-F238E27FC236}">
                <a16:creationId xmlns:a16="http://schemas.microsoft.com/office/drawing/2014/main" id="{7ECA4123-9084-03D2-4546-BF0E4E0486C9}"/>
              </a:ext>
            </a:extLst>
          </p:cNvPr>
          <p:cNvPicPr>
            <a:picLocks noChangeAspect="1"/>
          </p:cNvPicPr>
          <p:nvPr/>
        </p:nvPicPr>
        <p:blipFill>
          <a:blip r:embed="rId5"/>
          <a:stretch>
            <a:fillRect/>
          </a:stretch>
        </p:blipFill>
        <p:spPr>
          <a:xfrm>
            <a:off x="6053320" y="4035643"/>
            <a:ext cx="2691242" cy="74594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8" name="Picture 37">
            <a:extLst>
              <a:ext uri="{FF2B5EF4-FFF2-40B4-BE49-F238E27FC236}">
                <a16:creationId xmlns:a16="http://schemas.microsoft.com/office/drawing/2014/main" id="{F01AA962-F62F-8138-7E7B-99DB3E3E7355}"/>
              </a:ext>
            </a:extLst>
          </p:cNvPr>
          <p:cNvPicPr>
            <a:picLocks noChangeAspect="1"/>
          </p:cNvPicPr>
          <p:nvPr/>
        </p:nvPicPr>
        <p:blipFill>
          <a:blip r:embed="rId6"/>
          <a:srcRect l="11462" t="42002" r="59750" b="-1"/>
          <a:stretch>
            <a:fillRect/>
          </a:stretch>
        </p:blipFill>
        <p:spPr>
          <a:xfrm>
            <a:off x="8108027" y="4112289"/>
            <a:ext cx="557503" cy="613146"/>
          </a:xfrm>
          <a:prstGeom prst="rect">
            <a:avLst/>
          </a:prstGeom>
          <a:ln>
            <a:solidFill>
              <a:schemeClr val="bg2"/>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1681089" y="311211"/>
            <a:ext cx="2530153" cy="316260"/>
          </a:xfrm>
          <a:prstGeom prst="rect">
            <a:avLst/>
          </a:prstGeom>
          <a:solidFill>
            <a:srgbClr val="F8F8F8">
              <a:alpha val="10196"/>
            </a:srgbClr>
          </a:solidFill>
          <a:ln>
            <a:solidFill>
              <a:schemeClr val="tx1"/>
            </a:solidFill>
          </a:ln>
        </p:spPr>
        <p:txBody>
          <a:bodyPr wrap="none" lIns="0" tIns="0" rIns="0" bIns="0" rtlCol="0" anchor="t"/>
          <a:lstStyle/>
          <a:p>
            <a:pPr marL="0" indent="0" algn="ctr" rtl="1">
              <a:lnSpc>
                <a:spcPts val="2450"/>
              </a:lnSpc>
              <a:buNone/>
            </a:pPr>
            <a:r>
              <a:rPr lang="en-US" sz="1950" b="1" dirty="0">
                <a:solidFill>
                  <a:srgbClr val="FFFFFF"/>
                </a:solidFill>
                <a:latin typeface="Sakkal Majalla" panose="02000000000000000000" pitchFamily="2" charset="-78"/>
                <a:ea typeface="Syne Bold" pitchFamily="34" charset="-122"/>
                <a:cs typeface="Sakkal Majalla" panose="02000000000000000000" pitchFamily="2" charset="-78"/>
              </a:rPr>
              <a:t>صفحة الملف الشخصي</a:t>
            </a:r>
            <a:endParaRPr lang="en-US" sz="1950" dirty="0">
              <a:latin typeface="Sakkal Majalla" panose="02000000000000000000" pitchFamily="2" charset="-78"/>
              <a:cs typeface="Sakkal Majalla" panose="02000000000000000000" pitchFamily="2" charset="-78"/>
            </a:endParaRPr>
          </a:p>
        </p:txBody>
      </p:sp>
      <p:sp>
        <p:nvSpPr>
          <p:cNvPr id="4" name="Shape 1"/>
          <p:cNvSpPr/>
          <p:nvPr/>
        </p:nvSpPr>
        <p:spPr>
          <a:xfrm>
            <a:off x="376313" y="1352613"/>
            <a:ext cx="4962376" cy="1118777"/>
          </a:xfrm>
          <a:prstGeom prst="roundRect">
            <a:avLst>
              <a:gd name="adj" fmla="val 1668"/>
            </a:avLst>
          </a:prstGeom>
          <a:solidFill>
            <a:srgbClr val="0C0A33">
              <a:alpha val="40000"/>
            </a:srgbClr>
          </a:solidFill>
          <a:ln/>
        </p:spPr>
        <p:txBody>
          <a:bodyPr/>
          <a:lstStyle/>
          <a:p>
            <a:endParaRPr lang="en-US" dirty="0"/>
          </a:p>
        </p:txBody>
      </p:sp>
      <p:sp>
        <p:nvSpPr>
          <p:cNvPr id="5" name="Shape 2"/>
          <p:cNvSpPr/>
          <p:nvPr/>
        </p:nvSpPr>
        <p:spPr>
          <a:xfrm>
            <a:off x="4908576" y="1460143"/>
            <a:ext cx="322585" cy="322585"/>
          </a:xfrm>
          <a:prstGeom prst="roundRect">
            <a:avLst>
              <a:gd name="adj" fmla="val 17714489"/>
            </a:avLst>
          </a:prstGeom>
          <a:solidFill>
            <a:srgbClr val="F8F8F8">
              <a:alpha val="47843"/>
            </a:srgbClr>
          </a:solidFill>
          <a:ln/>
        </p:spPr>
        <p:txBody>
          <a:bodyPr/>
          <a:lstStyle/>
          <a:p>
            <a:endParaRPr lang="en-US"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6336" y="1528764"/>
            <a:ext cx="202793" cy="202793"/>
          </a:xfrm>
          <a:prstGeom prst="rect">
            <a:avLst/>
          </a:prstGeom>
        </p:spPr>
      </p:pic>
      <p:sp>
        <p:nvSpPr>
          <p:cNvPr id="7" name="Text 3"/>
          <p:cNvSpPr/>
          <p:nvPr/>
        </p:nvSpPr>
        <p:spPr>
          <a:xfrm>
            <a:off x="3966123" y="1976780"/>
            <a:ext cx="1265039" cy="158130"/>
          </a:xfrm>
          <a:prstGeom prst="rect">
            <a:avLst/>
          </a:prstGeom>
          <a:noFill/>
          <a:ln/>
        </p:spPr>
        <p:txBody>
          <a:bodyPr wrap="none" lIns="0" tIns="0" rIns="0" bIns="0" rtlCol="0" anchor="t"/>
          <a:lstStyle/>
          <a:p>
            <a:pPr marL="0" indent="0" algn="r" rtl="1">
              <a:lnSpc>
                <a:spcPts val="1200"/>
              </a:lnSpc>
              <a:buNone/>
            </a:pPr>
            <a:r>
              <a:rPr lang="en-US" sz="1600" b="1" dirty="0">
                <a:solidFill>
                  <a:srgbClr val="D9E1FF"/>
                </a:solidFill>
                <a:latin typeface="Simplified Arabic" panose="02020603050405020304" pitchFamily="18" charset="-78"/>
                <a:ea typeface="Syne Bold" pitchFamily="34" charset="-122"/>
                <a:cs typeface="Simplified Arabic" panose="02020603050405020304" pitchFamily="18" charset="-78"/>
              </a:rPr>
              <a:t>الهوية الرسمية</a:t>
            </a:r>
            <a:endParaRPr lang="en-US" sz="1600" dirty="0">
              <a:latin typeface="Simplified Arabic" panose="02020603050405020304" pitchFamily="18" charset="-78"/>
              <a:cs typeface="Simplified Arabic" panose="02020603050405020304" pitchFamily="18" charset="-78"/>
            </a:endParaRPr>
          </a:p>
        </p:txBody>
      </p:sp>
      <p:sp>
        <p:nvSpPr>
          <p:cNvPr id="8" name="Text 4"/>
          <p:cNvSpPr/>
          <p:nvPr/>
        </p:nvSpPr>
        <p:spPr>
          <a:xfrm>
            <a:off x="483842" y="2239579"/>
            <a:ext cx="4747320" cy="147786"/>
          </a:xfrm>
          <a:prstGeom prst="rect">
            <a:avLst/>
          </a:prstGeom>
          <a:noFill/>
          <a:ln/>
        </p:spPr>
        <p:txBody>
          <a:bodyPr wrap="none" lIns="0" tIns="0" rIns="0" bIns="0" rtlCol="0" anchor="t"/>
          <a:lstStyle/>
          <a:p>
            <a:pPr marL="0" indent="0" algn="r" rtl="1">
              <a:lnSpc>
                <a:spcPts val="1150"/>
              </a:lnSpc>
              <a:buNone/>
            </a:pPr>
            <a:r>
              <a:rPr lang="en-US" sz="1200" dirty="0">
                <a:solidFill>
                  <a:srgbClr val="D9E1FF"/>
                </a:solidFill>
                <a:latin typeface="Arimo" pitchFamily="34" charset="0"/>
                <a:ea typeface="Arimo" pitchFamily="34" charset="-122"/>
                <a:cs typeface="Arimo" pitchFamily="34" charset="-120"/>
              </a:rPr>
              <a:t>الاسم والرقم الوطني مرتبطان بنظام المصادقة لضمان المساءلة ومنع البلاغات المزيفة.</a:t>
            </a:r>
            <a:endParaRPr lang="en-US" sz="1200" dirty="0"/>
          </a:p>
        </p:txBody>
      </p:sp>
      <p:sp>
        <p:nvSpPr>
          <p:cNvPr id="9" name="Shape 5"/>
          <p:cNvSpPr/>
          <p:nvPr/>
        </p:nvSpPr>
        <p:spPr>
          <a:xfrm>
            <a:off x="376313" y="2578921"/>
            <a:ext cx="4962376" cy="1096392"/>
          </a:xfrm>
          <a:prstGeom prst="roundRect">
            <a:avLst>
              <a:gd name="adj" fmla="val 1668"/>
            </a:avLst>
          </a:prstGeom>
          <a:solidFill>
            <a:srgbClr val="0C0A33">
              <a:alpha val="32157"/>
            </a:srgbClr>
          </a:solidFill>
          <a:ln/>
        </p:spPr>
        <p:txBody>
          <a:bodyPr/>
          <a:lstStyle/>
          <a:p>
            <a:endParaRPr lang="en-US" dirty="0"/>
          </a:p>
        </p:txBody>
      </p:sp>
      <p:sp>
        <p:nvSpPr>
          <p:cNvPr id="10" name="Shape 6"/>
          <p:cNvSpPr/>
          <p:nvPr/>
        </p:nvSpPr>
        <p:spPr>
          <a:xfrm>
            <a:off x="4908577" y="2686449"/>
            <a:ext cx="322584" cy="322585"/>
          </a:xfrm>
          <a:prstGeom prst="roundRect">
            <a:avLst>
              <a:gd name="adj" fmla="val 17714489"/>
            </a:avLst>
          </a:prstGeom>
          <a:solidFill>
            <a:srgbClr val="F8F8F8">
              <a:alpha val="40000"/>
            </a:srgbClr>
          </a:solidFill>
          <a:ln/>
        </p:spPr>
        <p:txBody>
          <a:bodyPr/>
          <a:lstStyle/>
          <a:p>
            <a:endParaRPr lang="en-US" dirty="0"/>
          </a:p>
        </p:txBody>
      </p:sp>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97352" y="2775150"/>
            <a:ext cx="145107" cy="145107"/>
          </a:xfrm>
          <a:prstGeom prst="rect">
            <a:avLst/>
          </a:prstGeom>
        </p:spPr>
      </p:pic>
      <p:sp>
        <p:nvSpPr>
          <p:cNvPr id="12" name="Text 7"/>
          <p:cNvSpPr/>
          <p:nvPr/>
        </p:nvSpPr>
        <p:spPr>
          <a:xfrm>
            <a:off x="3966122" y="3148237"/>
            <a:ext cx="1265039" cy="158130"/>
          </a:xfrm>
          <a:prstGeom prst="rect">
            <a:avLst/>
          </a:prstGeom>
          <a:noFill/>
          <a:ln/>
        </p:spPr>
        <p:txBody>
          <a:bodyPr wrap="none" lIns="0" tIns="0" rIns="0" bIns="0" rtlCol="0" anchor="t"/>
          <a:lstStyle/>
          <a:p>
            <a:pPr marL="0" indent="0" algn="r" rtl="1">
              <a:lnSpc>
                <a:spcPts val="1200"/>
              </a:lnSpc>
              <a:buNone/>
            </a:pPr>
            <a:r>
              <a:rPr lang="en-US" b="1" dirty="0">
                <a:solidFill>
                  <a:srgbClr val="D9E1FF"/>
                </a:solidFill>
                <a:latin typeface="Simplified Arabic" panose="02020603050405020304" pitchFamily="18" charset="-78"/>
                <a:ea typeface="Syne Bold" pitchFamily="34" charset="-122"/>
                <a:cs typeface="Simplified Arabic" panose="02020603050405020304" pitchFamily="18" charset="-78"/>
              </a:rPr>
              <a:t>معلومات التواصل</a:t>
            </a:r>
            <a:endParaRPr lang="en-US" dirty="0">
              <a:latin typeface="Simplified Arabic" panose="02020603050405020304" pitchFamily="18" charset="-78"/>
              <a:cs typeface="Simplified Arabic" panose="02020603050405020304" pitchFamily="18" charset="-78"/>
            </a:endParaRPr>
          </a:p>
        </p:txBody>
      </p:sp>
      <p:sp>
        <p:nvSpPr>
          <p:cNvPr id="13" name="Text 8"/>
          <p:cNvSpPr/>
          <p:nvPr/>
        </p:nvSpPr>
        <p:spPr>
          <a:xfrm>
            <a:off x="483842" y="3398014"/>
            <a:ext cx="4747320" cy="147786"/>
          </a:xfrm>
          <a:prstGeom prst="rect">
            <a:avLst/>
          </a:prstGeom>
          <a:noFill/>
          <a:ln/>
        </p:spPr>
        <p:txBody>
          <a:bodyPr wrap="none" lIns="0" tIns="0" rIns="0" bIns="0" rtlCol="0" anchor="t"/>
          <a:lstStyle/>
          <a:p>
            <a:pPr marL="0" indent="0" algn="r" rtl="1">
              <a:lnSpc>
                <a:spcPts val="1150"/>
              </a:lnSpc>
              <a:buNone/>
            </a:pPr>
            <a:r>
              <a:rPr lang="en-US" sz="1200" dirty="0">
                <a:solidFill>
                  <a:srgbClr val="D9E1FF"/>
                </a:solidFill>
                <a:latin typeface="Arimo" pitchFamily="34" charset="0"/>
                <a:ea typeface="Arimo" pitchFamily="34" charset="-122"/>
                <a:cs typeface="Arimo" pitchFamily="34" charset="-120"/>
              </a:rPr>
              <a:t>رقم الهاتف والبريد الإلكتروني لاستقبال إشعارات حالة البلاغات ومتابعة فرق الصيانة.</a:t>
            </a:r>
            <a:endParaRPr lang="en-US" sz="1200" dirty="0"/>
          </a:p>
        </p:txBody>
      </p:sp>
      <p:sp>
        <p:nvSpPr>
          <p:cNvPr id="17" name="Text 11"/>
          <p:cNvSpPr/>
          <p:nvPr/>
        </p:nvSpPr>
        <p:spPr>
          <a:xfrm>
            <a:off x="3966122" y="3948772"/>
            <a:ext cx="1265039" cy="158130"/>
          </a:xfrm>
          <a:prstGeom prst="rect">
            <a:avLst/>
          </a:prstGeom>
          <a:noFill/>
          <a:ln/>
        </p:spPr>
        <p:txBody>
          <a:bodyPr wrap="none" lIns="0" tIns="0" rIns="0" bIns="0" rtlCol="0" anchor="t"/>
          <a:lstStyle/>
          <a:p>
            <a:pPr marL="0" indent="0" algn="r" rtl="1">
              <a:lnSpc>
                <a:spcPts val="1200"/>
              </a:lnSpc>
              <a:buNone/>
            </a:pPr>
            <a:endParaRPr lang="en-US" sz="950" dirty="0"/>
          </a:p>
        </p:txBody>
      </p:sp>
      <p:sp>
        <p:nvSpPr>
          <p:cNvPr id="19" name="Shape 13"/>
          <p:cNvSpPr/>
          <p:nvPr/>
        </p:nvSpPr>
        <p:spPr>
          <a:xfrm>
            <a:off x="376314" y="3782842"/>
            <a:ext cx="4962376" cy="1041858"/>
          </a:xfrm>
          <a:prstGeom prst="roundRect">
            <a:avLst>
              <a:gd name="adj" fmla="val 1668"/>
            </a:avLst>
          </a:prstGeom>
          <a:solidFill>
            <a:srgbClr val="0C0A33">
              <a:alpha val="30980"/>
            </a:srgbClr>
          </a:solidFill>
          <a:ln/>
        </p:spPr>
        <p:txBody>
          <a:bodyPr/>
          <a:lstStyle/>
          <a:p>
            <a:endParaRPr lang="en-US" dirty="0"/>
          </a:p>
        </p:txBody>
      </p:sp>
      <p:sp>
        <p:nvSpPr>
          <p:cNvPr id="20" name="Shape 14"/>
          <p:cNvSpPr/>
          <p:nvPr/>
        </p:nvSpPr>
        <p:spPr>
          <a:xfrm>
            <a:off x="4908577" y="3890371"/>
            <a:ext cx="322585" cy="322585"/>
          </a:xfrm>
          <a:prstGeom prst="roundRect">
            <a:avLst>
              <a:gd name="adj" fmla="val 17714489"/>
            </a:avLst>
          </a:prstGeom>
          <a:solidFill>
            <a:srgbClr val="F8F8F8">
              <a:alpha val="41961"/>
            </a:srgbClr>
          </a:solidFill>
          <a:ln/>
        </p:spPr>
        <p:txBody>
          <a:bodyPr/>
          <a:lstStyle/>
          <a:p>
            <a:endParaRPr lang="en-US" dirty="0"/>
          </a:p>
        </p:txBody>
      </p:sp>
      <p:pic>
        <p:nvPicPr>
          <p:cNvPr id="21" name="Image 4"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97353" y="3979072"/>
            <a:ext cx="145107" cy="145107"/>
          </a:xfrm>
          <a:prstGeom prst="rect">
            <a:avLst/>
          </a:prstGeom>
        </p:spPr>
      </p:pic>
      <p:sp>
        <p:nvSpPr>
          <p:cNvPr id="22" name="Text 15"/>
          <p:cNvSpPr/>
          <p:nvPr/>
        </p:nvSpPr>
        <p:spPr>
          <a:xfrm>
            <a:off x="3966123" y="4357899"/>
            <a:ext cx="1265039" cy="158130"/>
          </a:xfrm>
          <a:prstGeom prst="rect">
            <a:avLst/>
          </a:prstGeom>
          <a:noFill/>
          <a:ln/>
        </p:spPr>
        <p:txBody>
          <a:bodyPr wrap="none" lIns="0" tIns="0" rIns="0" bIns="0" rtlCol="0" anchor="t"/>
          <a:lstStyle/>
          <a:p>
            <a:pPr marL="0" indent="0" algn="r" rtl="1">
              <a:lnSpc>
                <a:spcPts val="1200"/>
              </a:lnSpc>
              <a:buNone/>
            </a:pPr>
            <a:r>
              <a:rPr lang="en-US" sz="1600" b="1" dirty="0">
                <a:solidFill>
                  <a:srgbClr val="D9E1FF"/>
                </a:solidFill>
                <a:latin typeface="Simplified Arabic" panose="02020603050405020304" pitchFamily="18" charset="-78"/>
                <a:ea typeface="Syne Bold"/>
                <a:cs typeface="Simplified Arabic" panose="02020603050405020304" pitchFamily="18" charset="-78"/>
              </a:rPr>
              <a:t>الشارات والإنجازات</a:t>
            </a:r>
            <a:endParaRPr lang="en-US" sz="1600" dirty="0">
              <a:latin typeface="Simplified Arabic" panose="02020603050405020304" pitchFamily="18" charset="-78"/>
              <a:ea typeface="Syne Bold"/>
              <a:cs typeface="Simplified Arabic" panose="02020603050405020304" pitchFamily="18" charset="-78"/>
            </a:endParaRPr>
          </a:p>
        </p:txBody>
      </p:sp>
      <p:sp>
        <p:nvSpPr>
          <p:cNvPr id="23" name="Text 16"/>
          <p:cNvSpPr/>
          <p:nvPr/>
        </p:nvSpPr>
        <p:spPr>
          <a:xfrm>
            <a:off x="483842" y="4554918"/>
            <a:ext cx="4747320" cy="147786"/>
          </a:xfrm>
          <a:prstGeom prst="rect">
            <a:avLst/>
          </a:prstGeom>
          <a:noFill/>
          <a:ln/>
        </p:spPr>
        <p:txBody>
          <a:bodyPr wrap="none" lIns="0" tIns="0" rIns="0" bIns="0" rtlCol="0" anchor="t"/>
          <a:lstStyle/>
          <a:p>
            <a:pPr marL="0" indent="0" algn="r" rtl="1">
              <a:lnSpc>
                <a:spcPts val="1150"/>
              </a:lnSpc>
              <a:buNone/>
            </a:pPr>
            <a:r>
              <a:rPr lang="en-US" sz="1200" dirty="0">
                <a:solidFill>
                  <a:srgbClr val="D9E1FF"/>
                </a:solidFill>
                <a:latin typeface="Arimo" pitchFamily="34" charset="0"/>
                <a:ea typeface="Arimo" pitchFamily="34" charset="-122"/>
                <a:cs typeface="Arimo" pitchFamily="34" charset="-120"/>
              </a:rPr>
              <a:t>عرض كامل للشارات المكتسبة والمستوى </a:t>
            </a:r>
            <a:r>
              <a:rPr lang="en-US" sz="1200" dirty="0" err="1">
                <a:solidFill>
                  <a:srgbClr val="D9E1FF"/>
                </a:solidFill>
                <a:latin typeface="Arimo" pitchFamily="34" charset="0"/>
                <a:ea typeface="Arimo" pitchFamily="34" charset="-122"/>
                <a:cs typeface="Arimo" pitchFamily="34" charset="-120"/>
              </a:rPr>
              <a:t>الحالي</a:t>
            </a:r>
            <a:r>
              <a:rPr lang="en-US" sz="1200" dirty="0">
                <a:solidFill>
                  <a:srgbClr val="D9E1FF"/>
                </a:solidFill>
                <a:latin typeface="Arimo" pitchFamily="34" charset="0"/>
                <a:ea typeface="Arimo" pitchFamily="34" charset="-122"/>
                <a:cs typeface="Arimo" pitchFamily="34" charset="-120"/>
              </a:rPr>
              <a:t> </a:t>
            </a:r>
            <a:r>
              <a:rPr lang="ar-JO" sz="1200" dirty="0">
                <a:solidFill>
                  <a:srgbClr val="D9E1FF"/>
                </a:solidFill>
                <a:latin typeface="Arimo" pitchFamily="34" charset="0"/>
                <a:ea typeface="Arimo" pitchFamily="34" charset="-122"/>
                <a:cs typeface="Arimo" pitchFamily="34" charset="-120"/>
              </a:rPr>
              <a:t>في قسم انجازاتي </a:t>
            </a:r>
            <a:r>
              <a:rPr lang="en-US" sz="1200" dirty="0">
                <a:solidFill>
                  <a:srgbClr val="D9E1FF"/>
                </a:solidFill>
                <a:latin typeface="Arimo" pitchFamily="34" charset="0"/>
                <a:ea typeface="Arimo" pitchFamily="34" charset="-122"/>
                <a:cs typeface="Arimo" pitchFamily="34" charset="-120"/>
              </a:rPr>
              <a:t>.</a:t>
            </a:r>
            <a:endParaRPr lang="en-US" sz="1200" dirty="0"/>
          </a:p>
        </p:txBody>
      </p:sp>
      <p:pic>
        <p:nvPicPr>
          <p:cNvPr id="25" name="Picture 24">
            <a:extLst>
              <a:ext uri="{FF2B5EF4-FFF2-40B4-BE49-F238E27FC236}">
                <a16:creationId xmlns:a16="http://schemas.microsoft.com/office/drawing/2014/main" id="{3F70DAAC-88AE-0387-8B8D-43352991B453}"/>
              </a:ext>
            </a:extLst>
          </p:cNvPr>
          <p:cNvPicPr>
            <a:picLocks noChangeAspect="1"/>
          </p:cNvPicPr>
          <p:nvPr/>
        </p:nvPicPr>
        <p:blipFill>
          <a:blip r:embed="rId9"/>
          <a:srcRect r="32474" b="25394"/>
          <a:stretch>
            <a:fillRect/>
          </a:stretch>
        </p:blipFill>
        <p:spPr>
          <a:xfrm>
            <a:off x="5911304" y="-4020"/>
            <a:ext cx="3232696" cy="5147519"/>
          </a:xfrm>
          <a:prstGeom prst="rect">
            <a:avLst/>
          </a:prstGeom>
        </p:spPr>
      </p:pic>
      <p:pic>
        <p:nvPicPr>
          <p:cNvPr id="32" name="Graphic 31" descr="Users with solid fill">
            <a:extLst>
              <a:ext uri="{FF2B5EF4-FFF2-40B4-BE49-F238E27FC236}">
                <a16:creationId xmlns:a16="http://schemas.microsoft.com/office/drawing/2014/main" id="{B64BFF13-14C4-7D72-A149-D7C7A80293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73834" y="331094"/>
            <a:ext cx="917851" cy="9178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207840" y="337840"/>
            <a:ext cx="3520306" cy="440010"/>
          </a:xfrm>
          <a:prstGeom prst="rect">
            <a:avLst/>
          </a:prstGeom>
          <a:solidFill>
            <a:srgbClr val="F8F8F8">
              <a:alpha val="10980"/>
            </a:srgbClr>
          </a:solidFill>
          <a:ln>
            <a:solidFill>
              <a:schemeClr val="tx1"/>
            </a:solidFill>
          </a:ln>
        </p:spPr>
        <p:txBody>
          <a:bodyPr wrap="none" lIns="0" tIns="0" rIns="0" bIns="0" rtlCol="0" anchor="t"/>
          <a:lstStyle/>
          <a:p>
            <a:pPr marL="0" indent="0" algn="ctr" rtl="1">
              <a:lnSpc>
                <a:spcPts val="3450"/>
              </a:lnSpc>
              <a:buNone/>
            </a:pPr>
            <a:r>
              <a:rPr lang="en-US" sz="2750" b="1" dirty="0">
                <a:solidFill>
                  <a:srgbClr val="FFFFFF"/>
                </a:solidFill>
                <a:latin typeface="Sakkal Majalla" panose="02000000000000000000" pitchFamily="2" charset="-78"/>
                <a:ea typeface="Tahoma" panose="020B0604030504040204" pitchFamily="34" charset="0"/>
                <a:cs typeface="Sakkal Majalla" panose="02000000000000000000" pitchFamily="2" charset="-78"/>
              </a:rPr>
              <a:t>التقنيات المستخدمة</a:t>
            </a:r>
            <a:endParaRPr lang="en-US" sz="2750" dirty="0">
              <a:latin typeface="Sakkal Majalla" panose="02000000000000000000" pitchFamily="2" charset="-78"/>
              <a:ea typeface="Tahoma" panose="020B0604030504040204" pitchFamily="34" charset="0"/>
              <a:cs typeface="Sakkal Majalla" panose="02000000000000000000" pitchFamily="2" charset="-78"/>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08206" y="1408123"/>
            <a:ext cx="299219" cy="299219"/>
          </a:xfrm>
          <a:prstGeom prst="rect">
            <a:avLst/>
          </a:prstGeom>
        </p:spPr>
      </p:pic>
      <p:sp>
        <p:nvSpPr>
          <p:cNvPr id="4" name="Text 1"/>
          <p:cNvSpPr/>
          <p:nvPr/>
        </p:nvSpPr>
        <p:spPr>
          <a:xfrm>
            <a:off x="7047309" y="1763837"/>
            <a:ext cx="1760116" cy="219968"/>
          </a:xfrm>
          <a:prstGeom prst="rect">
            <a:avLst/>
          </a:prstGeom>
          <a:noFill/>
          <a:ln/>
        </p:spPr>
        <p:txBody>
          <a:bodyPr wrap="none" lIns="0" tIns="0" rIns="0" bIns="0" rtlCol="0" anchor="t"/>
          <a:lstStyle/>
          <a:p>
            <a:pPr algn="r" rtl="1">
              <a:lnSpc>
                <a:spcPts val="1700"/>
              </a:lnSpc>
            </a:pP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الواجهة</a:t>
            </a:r>
            <a:r>
              <a:rPr lang="en-US"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الأمامية</a:t>
            </a: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400" b="1" dirty="0"/>
              <a:t>Front-End</a:t>
            </a:r>
            <a:r>
              <a:rPr lang="ar-JO" sz="1350" dirty="0">
                <a:latin typeface="Sakkal Majalla" panose="02000000000000000000" pitchFamily="2" charset="-78"/>
                <a:cs typeface="Sakkal Majalla" panose="02000000000000000000" pitchFamily="2" charset="-78"/>
              </a:rPr>
              <a:t>)</a:t>
            </a:r>
            <a:endParaRPr lang="en-US" sz="1350" dirty="0">
              <a:latin typeface="Sakkal Majalla" panose="02000000000000000000" pitchFamily="2" charset="-78"/>
              <a:cs typeface="Sakkal Majalla" panose="02000000000000000000" pitchFamily="2" charset="-78"/>
            </a:endParaRPr>
          </a:p>
        </p:txBody>
      </p:sp>
      <p:sp>
        <p:nvSpPr>
          <p:cNvPr id="5" name="Text 2"/>
          <p:cNvSpPr/>
          <p:nvPr/>
        </p:nvSpPr>
        <p:spPr>
          <a:xfrm>
            <a:off x="4852540" y="2073548"/>
            <a:ext cx="3954884" cy="478780"/>
          </a:xfrm>
          <a:prstGeom prst="rect">
            <a:avLst/>
          </a:prstGeom>
          <a:noFill/>
          <a:ln/>
        </p:spPr>
        <p:txBody>
          <a:bodyPr wrap="square" lIns="0" tIns="0" rIns="0" bIns="0" rtlCol="0" anchor="t"/>
          <a:lstStyle/>
          <a:p>
            <a:pPr marL="0" indent="0" algn="r">
              <a:lnSpc>
                <a:spcPts val="1850"/>
              </a:lnSpc>
              <a:buNone/>
            </a:pPr>
            <a:r>
              <a:rPr lang="en-US" sz="1150" dirty="0">
                <a:solidFill>
                  <a:srgbClr val="D9E1FF"/>
                </a:solidFill>
                <a:latin typeface="Arimo" pitchFamily="34" charset="0"/>
                <a:ea typeface="Arimo" pitchFamily="34" charset="-122"/>
                <a:cs typeface="Arimo" pitchFamily="34" charset="-120"/>
              </a:rPr>
              <a:t>HTML5، CSS3، JavaScript </a:t>
            </a:r>
            <a:r>
              <a:rPr lang="ar-JO" sz="1150" dirty="0">
                <a:solidFill>
                  <a:srgbClr val="D9E1FF"/>
                </a:solidFill>
                <a:latin typeface="Arimo" pitchFamily="34" charset="0"/>
                <a:ea typeface="Arimo" pitchFamily="34" charset="-122"/>
                <a:cs typeface="Arimo" pitchFamily="34" charset="-120"/>
              </a:rPr>
              <a:t> </a:t>
            </a:r>
            <a:r>
              <a:rPr lang="en-US" sz="1150" dirty="0">
                <a:solidFill>
                  <a:srgbClr val="D9E1FF"/>
                </a:solidFill>
                <a:latin typeface="Arimo" pitchFamily="34" charset="0"/>
                <a:ea typeface="Arimo" pitchFamily="34" charset="-122"/>
                <a:cs typeface="Arimo" pitchFamily="34" charset="-120"/>
              </a:rPr>
              <a:t>مع دعم كامل </a:t>
            </a:r>
            <a:r>
              <a:rPr lang="ar-JO" sz="1150" dirty="0">
                <a:solidFill>
                  <a:srgbClr val="D9E1FF"/>
                </a:solidFill>
                <a:latin typeface="Arimo" pitchFamily="34" charset="0"/>
                <a:ea typeface="Arimo" pitchFamily="34" charset="-122"/>
                <a:cs typeface="Arimo" pitchFamily="34" charset="-120"/>
              </a:rPr>
              <a:t>بالل</a:t>
            </a:r>
            <a:r>
              <a:rPr lang="en-US" sz="1150" dirty="0">
                <a:solidFill>
                  <a:srgbClr val="D9E1FF"/>
                </a:solidFill>
                <a:latin typeface="Arimo" pitchFamily="34" charset="0"/>
                <a:ea typeface="Arimo" pitchFamily="34" charset="-122"/>
                <a:cs typeface="Arimo" pitchFamily="34" charset="-120"/>
              </a:rPr>
              <a:t>غة العربية.</a:t>
            </a:r>
            <a:endParaRPr lang="en-US" sz="11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25354" y="1419746"/>
            <a:ext cx="299219" cy="299219"/>
          </a:xfrm>
          <a:prstGeom prst="rect">
            <a:avLst/>
          </a:prstGeom>
        </p:spPr>
      </p:pic>
      <p:sp>
        <p:nvSpPr>
          <p:cNvPr id="7" name="Text 3"/>
          <p:cNvSpPr/>
          <p:nvPr/>
        </p:nvSpPr>
        <p:spPr>
          <a:xfrm>
            <a:off x="2905422" y="1763837"/>
            <a:ext cx="1760116" cy="219968"/>
          </a:xfrm>
          <a:prstGeom prst="rect">
            <a:avLst/>
          </a:prstGeom>
          <a:noFill/>
          <a:ln/>
        </p:spPr>
        <p:txBody>
          <a:bodyPr wrap="none" lIns="0" tIns="0" rIns="0" bIns="0" rtlCol="0" anchor="t"/>
          <a:lstStyle/>
          <a:p>
            <a:pPr algn="r" rtl="1">
              <a:lnSpc>
                <a:spcPts val="1700"/>
              </a:lnSpc>
            </a:pP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الخادم</a:t>
            </a:r>
            <a:r>
              <a:rPr lang="en-US"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الخلفي</a:t>
            </a: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400" b="1" dirty="0"/>
              <a:t>Back-End</a:t>
            </a:r>
            <a:r>
              <a:rPr lang="ar-JO" sz="1350" b="1" dirty="0">
                <a:latin typeface="Sakkal Majalla" panose="02000000000000000000" pitchFamily="2" charset="-78"/>
                <a:cs typeface="Sakkal Majalla" panose="02000000000000000000" pitchFamily="2" charset="-78"/>
              </a:rPr>
              <a:t>)</a:t>
            </a:r>
            <a:endParaRPr lang="en-US" sz="1400" dirty="0"/>
          </a:p>
        </p:txBody>
      </p:sp>
      <p:sp>
        <p:nvSpPr>
          <p:cNvPr id="8" name="Text 4"/>
          <p:cNvSpPr/>
          <p:nvPr/>
        </p:nvSpPr>
        <p:spPr>
          <a:xfrm>
            <a:off x="710579" y="1994298"/>
            <a:ext cx="4048423" cy="857249"/>
          </a:xfrm>
          <a:prstGeom prst="rect">
            <a:avLst/>
          </a:prstGeom>
          <a:noFill/>
          <a:ln/>
        </p:spPr>
        <p:txBody>
          <a:bodyPr wrap="square" lIns="0" tIns="0" rIns="0" bIns="0" rtlCol="0" anchor="t"/>
          <a:lstStyle/>
          <a:p>
            <a:pPr algn="r"/>
            <a:r>
              <a:rPr lang="ar-JO" sz="1200" b="1" dirty="0"/>
              <a:t> | </a:t>
            </a:r>
            <a:r>
              <a:rPr lang="en-US" sz="1200" b="1" dirty="0"/>
              <a:t>RESTful APIs</a:t>
            </a:r>
            <a:r>
              <a:rPr lang="en-US" sz="1200" dirty="0"/>
              <a:t> </a:t>
            </a:r>
            <a:r>
              <a:rPr lang="ar-JO" sz="1200" b="1" dirty="0"/>
              <a:t>لبناء واجهات </a:t>
            </a:r>
            <a:r>
              <a:rPr lang="en-US" sz="1200" b="1" dirty="0"/>
              <a:t>|</a:t>
            </a:r>
            <a:r>
              <a:rPr lang="en-US" sz="1200" b="1" dirty="0">
                <a:sym typeface="Wingdings" panose="05000000000000000000" pitchFamily="2" charset="2"/>
              </a:rPr>
              <a:t>  </a:t>
            </a:r>
            <a:r>
              <a:rPr lang="en-US" sz="1200" b="1" dirty="0"/>
              <a:t>Spring Boot</a:t>
            </a:r>
            <a:r>
              <a:rPr lang="ar-JO" sz="1200" b="1" dirty="0"/>
              <a:t> </a:t>
            </a:r>
            <a:r>
              <a:rPr lang="ar-JO" sz="1200" dirty="0"/>
              <a:t> يستخدم </a:t>
            </a:r>
            <a:endParaRPr lang="ar-JO" sz="1200" b="1" dirty="0"/>
          </a:p>
          <a:p>
            <a:pPr algn="r"/>
            <a:r>
              <a:rPr lang="en-US" sz="1200" dirty="0"/>
              <a:t> </a:t>
            </a:r>
            <a:r>
              <a:rPr lang="ar-JO" sz="1200" dirty="0"/>
              <a:t>قادرة على إدارة دورة حياة البلاغات من الإنشاء</a:t>
            </a:r>
          </a:p>
          <a:p>
            <a:pPr algn="r"/>
            <a:r>
              <a:rPr lang="ar-JO" sz="1200" dirty="0"/>
              <a:t> حتى الإغلاق، مع توفير آليات </a:t>
            </a:r>
            <a:r>
              <a:rPr lang="ar-JO" sz="1200" b="1" dirty="0"/>
              <a:t>المصادقة</a:t>
            </a:r>
            <a:r>
              <a:rPr lang="ar-JO" sz="1200" dirty="0"/>
              <a:t> لضمان أمان الوصول، بالإضافة إلى </a:t>
            </a:r>
            <a:r>
              <a:rPr lang="ar-JO" sz="1200" b="1" dirty="0"/>
              <a:t>توزيع البيانات</a:t>
            </a:r>
            <a:r>
              <a:rPr lang="ar-JO" sz="1200" dirty="0"/>
              <a:t> بشكل منظم بين الأنظمة والتطبيقات المختلفة.</a:t>
            </a:r>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08206" y="2851547"/>
            <a:ext cx="299219" cy="299219"/>
          </a:xfrm>
          <a:prstGeom prst="rect">
            <a:avLst/>
          </a:prstGeom>
        </p:spPr>
      </p:pic>
      <p:sp>
        <p:nvSpPr>
          <p:cNvPr id="10" name="Text 5"/>
          <p:cNvSpPr/>
          <p:nvPr/>
        </p:nvSpPr>
        <p:spPr>
          <a:xfrm>
            <a:off x="7047309" y="3337768"/>
            <a:ext cx="1760116" cy="219968"/>
          </a:xfrm>
          <a:prstGeom prst="rect">
            <a:avLst/>
          </a:prstGeom>
          <a:noFill/>
          <a:ln/>
        </p:spPr>
        <p:txBody>
          <a:bodyPr wrap="none" lIns="0" tIns="0" rIns="0" bIns="0" rtlCol="0" anchor="t"/>
          <a:lstStyle/>
          <a:p>
            <a:pPr algn="r" rtl="1">
              <a:lnSpc>
                <a:spcPts val="1700"/>
              </a:lnSpc>
            </a:pP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الخر</a:t>
            </a: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ا</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ئط</a:t>
            </a:r>
            <a:r>
              <a:rPr lang="en-US"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التفاعلية</a:t>
            </a: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400" b="1" dirty="0"/>
              <a:t>Interactive Maps</a:t>
            </a:r>
            <a:r>
              <a:rPr lang="ar-JO" sz="1350" dirty="0">
                <a:latin typeface="Sakkal Majalla" panose="02000000000000000000" pitchFamily="2" charset="-78"/>
                <a:cs typeface="Sakkal Majalla" panose="02000000000000000000" pitchFamily="2" charset="-78"/>
              </a:rPr>
              <a:t>)</a:t>
            </a:r>
            <a:endParaRPr lang="en-US" sz="1350" dirty="0">
              <a:latin typeface="Sakkal Majalla" panose="02000000000000000000" pitchFamily="2" charset="-78"/>
              <a:cs typeface="Sakkal Majalla" panose="02000000000000000000" pitchFamily="2" charset="-78"/>
            </a:endParaRPr>
          </a:p>
        </p:txBody>
      </p:sp>
      <p:sp>
        <p:nvSpPr>
          <p:cNvPr id="11" name="Text 6"/>
          <p:cNvSpPr/>
          <p:nvPr/>
        </p:nvSpPr>
        <p:spPr>
          <a:xfrm>
            <a:off x="4852540" y="3647480"/>
            <a:ext cx="3954884" cy="478780"/>
          </a:xfrm>
          <a:prstGeom prst="rect">
            <a:avLst/>
          </a:prstGeom>
          <a:noFill/>
          <a:ln/>
        </p:spPr>
        <p:txBody>
          <a:bodyPr wrap="square" lIns="0" tIns="0" rIns="0" bIns="0" rtlCol="0" anchor="t"/>
          <a:lstStyle/>
          <a:p>
            <a:pPr marL="0" indent="0" algn="r">
              <a:lnSpc>
                <a:spcPts val="1850"/>
              </a:lnSpc>
              <a:buNone/>
            </a:pPr>
            <a:r>
              <a:rPr lang="en-US" sz="1150" dirty="0">
                <a:solidFill>
                  <a:srgbClr val="D9E1FF"/>
                </a:solidFill>
                <a:latin typeface="Arimo" pitchFamily="34" charset="0"/>
                <a:ea typeface="Arimo" pitchFamily="34" charset="-122"/>
                <a:cs typeface="Arimo" pitchFamily="34" charset="-120"/>
              </a:rPr>
              <a:t>Leaflet.js مع OpenStreetMap لتحديد المواقع الجغرافية الدقيقة وعرض الخريطة الحرارية.</a:t>
            </a:r>
            <a:endParaRPr lang="en-US" sz="11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66319" y="2851547"/>
            <a:ext cx="299219" cy="299219"/>
          </a:xfrm>
          <a:prstGeom prst="rect">
            <a:avLst/>
          </a:prstGeom>
        </p:spPr>
      </p:pic>
      <p:sp>
        <p:nvSpPr>
          <p:cNvPr id="13" name="Text 7"/>
          <p:cNvSpPr/>
          <p:nvPr/>
        </p:nvSpPr>
        <p:spPr>
          <a:xfrm>
            <a:off x="2905422" y="3337768"/>
            <a:ext cx="1760116" cy="219968"/>
          </a:xfrm>
          <a:prstGeom prst="rect">
            <a:avLst/>
          </a:prstGeom>
          <a:noFill/>
          <a:ln/>
        </p:spPr>
        <p:txBody>
          <a:bodyPr wrap="none" lIns="0" tIns="0" rIns="0" bIns="0" rtlCol="0" anchor="t"/>
          <a:lstStyle/>
          <a:p>
            <a:pPr algn="r" rtl="1">
              <a:lnSpc>
                <a:spcPts val="1700"/>
              </a:lnSpc>
            </a:pP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قاعدة</a:t>
            </a:r>
            <a:r>
              <a:rPr lang="en-US"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350" b="1" dirty="0" err="1">
                <a:solidFill>
                  <a:srgbClr val="D9E1FF"/>
                </a:solidFill>
                <a:latin typeface="Sakkal Majalla" panose="02000000000000000000" pitchFamily="2" charset="-78"/>
                <a:ea typeface="Syne Bold" pitchFamily="34" charset="-122"/>
                <a:cs typeface="Sakkal Majalla" panose="02000000000000000000" pitchFamily="2" charset="-78"/>
              </a:rPr>
              <a:t>البيانات</a:t>
            </a:r>
            <a:r>
              <a:rPr lang="ar-JO" sz="1350" b="1" dirty="0">
                <a:solidFill>
                  <a:srgbClr val="D9E1FF"/>
                </a:solidFill>
                <a:latin typeface="Sakkal Majalla" panose="02000000000000000000" pitchFamily="2" charset="-78"/>
                <a:ea typeface="Syne Bold" pitchFamily="34" charset="-122"/>
                <a:cs typeface="Sakkal Majalla" panose="02000000000000000000" pitchFamily="2" charset="-78"/>
              </a:rPr>
              <a:t> (</a:t>
            </a:r>
            <a:r>
              <a:rPr lang="en-US" sz="1400" b="1" dirty="0"/>
              <a:t>Database</a:t>
            </a:r>
            <a:r>
              <a:rPr lang="ar-JO" sz="1350" b="1" dirty="0">
                <a:latin typeface="Sakkal Majalla" panose="02000000000000000000" pitchFamily="2" charset="-78"/>
                <a:cs typeface="Sakkal Majalla" panose="02000000000000000000" pitchFamily="2" charset="-78"/>
              </a:rPr>
              <a:t>)</a:t>
            </a:r>
            <a:endParaRPr lang="en-US" sz="1400" dirty="0"/>
          </a:p>
        </p:txBody>
      </p:sp>
      <p:sp>
        <p:nvSpPr>
          <p:cNvPr id="14" name="Text 8"/>
          <p:cNvSpPr/>
          <p:nvPr/>
        </p:nvSpPr>
        <p:spPr>
          <a:xfrm>
            <a:off x="710579" y="3647480"/>
            <a:ext cx="3954959" cy="478780"/>
          </a:xfrm>
          <a:prstGeom prst="rect">
            <a:avLst/>
          </a:prstGeom>
          <a:noFill/>
          <a:ln/>
        </p:spPr>
        <p:txBody>
          <a:bodyPr wrap="square" lIns="0" tIns="0" rIns="0" bIns="0" rtlCol="0" anchor="t"/>
          <a:lstStyle/>
          <a:p>
            <a:pPr marL="0" indent="0" algn="r">
              <a:lnSpc>
                <a:spcPts val="1850"/>
              </a:lnSpc>
              <a:buNone/>
            </a:pPr>
            <a:r>
              <a:rPr lang="en-US" sz="1150" dirty="0">
                <a:solidFill>
                  <a:srgbClr val="D9E1FF"/>
                </a:solidFill>
                <a:latin typeface="Arimo" pitchFamily="34" charset="0"/>
                <a:ea typeface="Arimo" pitchFamily="34" charset="-122"/>
                <a:cs typeface="Arimo" pitchFamily="34" charset="-120"/>
              </a:rPr>
              <a:t>PostgreSQL لتخزين البلاغات والإحداثيات الجغرافية وبيانات المستخدمين وسجلات النقاط.</a:t>
            </a:r>
            <a:endParaRPr lang="en-US" sz="1150" dirty="0"/>
          </a:p>
        </p:txBody>
      </p:sp>
      <p:pic>
        <p:nvPicPr>
          <p:cNvPr id="18" name="Graphic 17" descr="Laptop with phone and calculator">
            <a:extLst>
              <a:ext uri="{FF2B5EF4-FFF2-40B4-BE49-F238E27FC236}">
                <a16:creationId xmlns:a16="http://schemas.microsoft.com/office/drawing/2014/main" id="{534CE467-FA51-05EB-8D1D-678F8CA3345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0" y="3772653"/>
            <a:ext cx="1554836" cy="1554836"/>
          </a:xfrm>
          <a:prstGeom prst="rect">
            <a:avLst/>
          </a:prstGeom>
        </p:spPr>
      </p:pic>
      <p:pic>
        <p:nvPicPr>
          <p:cNvPr id="20" name="Picture 19">
            <a:extLst>
              <a:ext uri="{FF2B5EF4-FFF2-40B4-BE49-F238E27FC236}">
                <a16:creationId xmlns:a16="http://schemas.microsoft.com/office/drawing/2014/main" id="{F533D621-CC68-4766-C720-69D14F651EF9}"/>
              </a:ext>
            </a:extLst>
          </p:cNvPr>
          <p:cNvPicPr>
            <a:picLocks noChangeAspect="1"/>
          </p:cNvPicPr>
          <p:nvPr/>
        </p:nvPicPr>
        <p:blipFill>
          <a:blip r:embed="rId13"/>
          <a:srcRect l="20402" t="9476"/>
          <a:stretch>
            <a:fillRect/>
          </a:stretch>
        </p:blipFill>
        <p:spPr>
          <a:xfrm>
            <a:off x="0" y="0"/>
            <a:ext cx="2042732" cy="19838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143688" y="271418"/>
            <a:ext cx="3520306" cy="440010"/>
          </a:xfrm>
          <a:prstGeom prst="rect">
            <a:avLst/>
          </a:prstGeom>
          <a:solidFill>
            <a:srgbClr val="F8F8F8">
              <a:alpha val="5098"/>
            </a:srgbClr>
          </a:solidFill>
          <a:ln>
            <a:solidFill>
              <a:schemeClr val="tx1"/>
            </a:solidFill>
          </a:ln>
        </p:spPr>
        <p:txBody>
          <a:bodyPr wrap="none" lIns="0" tIns="0" rIns="0" bIns="0" rtlCol="0" anchor="t"/>
          <a:lstStyle/>
          <a:p>
            <a:pPr marL="0" indent="0" algn="ctr" rtl="1">
              <a:lnSpc>
                <a:spcPts val="3450"/>
              </a:lnSpc>
              <a:buNone/>
            </a:pPr>
            <a:r>
              <a:rPr lang="en-US" sz="2750" b="1" dirty="0">
                <a:solidFill>
                  <a:srgbClr val="FFFFFF"/>
                </a:solidFill>
                <a:latin typeface="Sakkal Majalla" panose="02000000000000000000" pitchFamily="2" charset="-78"/>
                <a:ea typeface="Tahoma" panose="020B0604030504040204" pitchFamily="34" charset="0"/>
                <a:cs typeface="Sakkal Majalla" panose="02000000000000000000" pitchFamily="2" charset="-78"/>
              </a:rPr>
              <a:t>نحو </a:t>
            </a:r>
            <a:r>
              <a:rPr lang="ar-JO" sz="2750" b="1" dirty="0">
                <a:solidFill>
                  <a:srgbClr val="FFFFFF"/>
                </a:solidFill>
                <a:latin typeface="Sakkal Majalla" panose="02000000000000000000" pitchFamily="2" charset="-78"/>
                <a:ea typeface="Tahoma" panose="020B0604030504040204" pitchFamily="34" charset="0"/>
                <a:cs typeface="Sakkal Majalla" panose="02000000000000000000" pitchFamily="2" charset="-78"/>
              </a:rPr>
              <a:t>بيئة</a:t>
            </a:r>
            <a:r>
              <a:rPr lang="en-US" sz="2750" b="1" dirty="0">
                <a:solidFill>
                  <a:srgbClr val="FFFFFF"/>
                </a:solidFill>
                <a:latin typeface="Sakkal Majalla" panose="02000000000000000000" pitchFamily="2" charset="-78"/>
                <a:ea typeface="Tahoma" panose="020B0604030504040204" pitchFamily="34" charset="0"/>
                <a:cs typeface="Sakkal Majalla" panose="02000000000000000000" pitchFamily="2" charset="-78"/>
              </a:rPr>
              <a:t> رقمية أفضل</a:t>
            </a:r>
            <a:endParaRPr lang="en-US" sz="2750" dirty="0">
              <a:latin typeface="Sakkal Majalla" panose="02000000000000000000" pitchFamily="2" charset="-78"/>
              <a:ea typeface="Tahoma" panose="020B0604030504040204" pitchFamily="34" charset="0"/>
              <a:cs typeface="Sakkal Majalla" panose="02000000000000000000" pitchFamily="2" charset="-78"/>
            </a:endParaRPr>
          </a:p>
        </p:txBody>
      </p:sp>
      <p:sp>
        <p:nvSpPr>
          <p:cNvPr id="4" name="Text 1"/>
          <p:cNvSpPr/>
          <p:nvPr/>
        </p:nvSpPr>
        <p:spPr>
          <a:xfrm>
            <a:off x="4219863" y="1615827"/>
            <a:ext cx="4443487" cy="478780"/>
          </a:xfrm>
          <a:prstGeom prst="rect">
            <a:avLst/>
          </a:prstGeom>
          <a:noFill/>
          <a:ln/>
        </p:spPr>
        <p:txBody>
          <a:bodyPr wrap="square" lIns="0" tIns="0" rIns="0" bIns="0" rtlCol="0" anchor="t"/>
          <a:lstStyle/>
          <a:p>
            <a:pPr marL="0" indent="0" algn="r" rtl="1">
              <a:lnSpc>
                <a:spcPts val="1850"/>
              </a:lnSpc>
              <a:buNone/>
            </a:pPr>
            <a:r>
              <a:rPr lang="en-US" sz="1150" b="1" dirty="0">
                <a:solidFill>
                  <a:srgbClr val="D9E1FF"/>
                </a:solidFill>
                <a:latin typeface="Arimo" pitchFamily="34" charset="0"/>
                <a:ea typeface="Arimo" pitchFamily="34" charset="-122"/>
                <a:cs typeface="Arimo" pitchFamily="34" charset="-120"/>
              </a:rPr>
              <a:t>نهدي هذا العمل لمواطني الأردن الذين يستحقون نظاماً بلدياً أكثر شفافية واستجابةً وحداثة.</a:t>
            </a:r>
            <a:endParaRPr lang="en-US" sz="1150" b="1" dirty="0"/>
          </a:p>
        </p:txBody>
      </p:sp>
      <p:sp>
        <p:nvSpPr>
          <p:cNvPr id="8" name="Text 5"/>
          <p:cNvSpPr/>
          <p:nvPr/>
        </p:nvSpPr>
        <p:spPr>
          <a:xfrm>
            <a:off x="7000295" y="2302780"/>
            <a:ext cx="1760116" cy="219968"/>
          </a:xfrm>
          <a:prstGeom prst="rect">
            <a:avLst/>
          </a:prstGeom>
          <a:noFill/>
          <a:ln/>
        </p:spPr>
        <p:txBody>
          <a:bodyPr wrap="none" lIns="0" tIns="0" rIns="0" bIns="0" rtlCol="0" anchor="t"/>
          <a:lstStyle/>
          <a:p>
            <a:pPr marL="0" indent="0" algn="r" rtl="1">
              <a:lnSpc>
                <a:spcPts val="1700"/>
              </a:lnSpc>
              <a:buNone/>
            </a:pPr>
            <a:endParaRPr lang="en-US" sz="1350" dirty="0">
              <a:latin typeface="Sakkal Majalla" panose="02000000000000000000" pitchFamily="2" charset="-78"/>
              <a:cs typeface="Sakkal Majalla" panose="02000000000000000000" pitchFamily="2" charset="-78"/>
            </a:endParaRPr>
          </a:p>
        </p:txBody>
      </p:sp>
      <p:pic>
        <p:nvPicPr>
          <p:cNvPr id="19" name="Picture 18">
            <a:extLst>
              <a:ext uri="{FF2B5EF4-FFF2-40B4-BE49-F238E27FC236}">
                <a16:creationId xmlns:a16="http://schemas.microsoft.com/office/drawing/2014/main" id="{656661EC-AE0D-C1BE-DD0A-0FE6CE5EE942}"/>
              </a:ext>
            </a:extLst>
          </p:cNvPr>
          <p:cNvPicPr>
            <a:picLocks noChangeAspect="1"/>
          </p:cNvPicPr>
          <p:nvPr/>
        </p:nvPicPr>
        <p:blipFill>
          <a:blip r:embed="rId3"/>
          <a:srcRect r="1979"/>
          <a:stretch>
            <a:fillRect/>
          </a:stretch>
        </p:blipFill>
        <p:spPr>
          <a:xfrm>
            <a:off x="248019" y="786950"/>
            <a:ext cx="3634664" cy="4029661"/>
          </a:xfrm>
          <a:prstGeom prst="rect">
            <a:avLst/>
          </a:prstGeom>
          <a:ln>
            <a:noFill/>
          </a:ln>
          <a:effectLst>
            <a:softEdge rad="112500"/>
          </a:effectLst>
        </p:spPr>
      </p:pic>
      <p:sp>
        <p:nvSpPr>
          <p:cNvPr id="21" name="TextBox 20">
            <a:extLst>
              <a:ext uri="{FF2B5EF4-FFF2-40B4-BE49-F238E27FC236}">
                <a16:creationId xmlns:a16="http://schemas.microsoft.com/office/drawing/2014/main" id="{4AA94F60-A021-87B5-287C-A2B21C44CA00}"/>
              </a:ext>
            </a:extLst>
          </p:cNvPr>
          <p:cNvSpPr txBox="1"/>
          <p:nvPr/>
        </p:nvSpPr>
        <p:spPr>
          <a:xfrm>
            <a:off x="5903842" y="4473526"/>
            <a:ext cx="1941342" cy="646331"/>
          </a:xfrm>
          <a:prstGeom prst="rect">
            <a:avLst/>
          </a:prstGeom>
          <a:noFill/>
        </p:spPr>
        <p:txBody>
          <a:bodyPr wrap="square" rtlCol="0">
            <a:spAutoFit/>
          </a:bodyPr>
          <a:lstStyle/>
          <a:p>
            <a:r>
              <a:rPr lang="ar-JO" b="1" dirty="0"/>
              <a:t>شكراً لحسن استماعكم</a:t>
            </a:r>
          </a:p>
          <a:p>
            <a:endParaRPr lang="en-US" dirty="0"/>
          </a:p>
        </p:txBody>
      </p:sp>
      <p:sp>
        <p:nvSpPr>
          <p:cNvPr id="22" name="TextBox 21">
            <a:extLst>
              <a:ext uri="{FF2B5EF4-FFF2-40B4-BE49-F238E27FC236}">
                <a16:creationId xmlns:a16="http://schemas.microsoft.com/office/drawing/2014/main" id="{76AA8616-1F04-CA20-2C6A-94E5305E509B}"/>
              </a:ext>
            </a:extLst>
          </p:cNvPr>
          <p:cNvSpPr txBox="1"/>
          <p:nvPr/>
        </p:nvSpPr>
        <p:spPr>
          <a:xfrm>
            <a:off x="4604821" y="2161273"/>
            <a:ext cx="4058529" cy="2031325"/>
          </a:xfrm>
          <a:prstGeom prst="rect">
            <a:avLst/>
          </a:prstGeom>
          <a:solidFill>
            <a:srgbClr val="F8F8F8">
              <a:alpha val="5882"/>
            </a:srgbClr>
          </a:solidFill>
          <a:ln>
            <a:solidFill>
              <a:schemeClr val="tx1"/>
            </a:solidFill>
          </a:ln>
        </p:spPr>
        <p:txBody>
          <a:bodyPr wrap="square" rtlCol="0">
            <a:spAutoFit/>
          </a:bodyPr>
          <a:lstStyle/>
          <a:p>
            <a:pPr algn="r"/>
            <a:r>
              <a:rPr lang="ar-JO" sz="1600" dirty="0"/>
              <a:t>"إن الأثر الحقيقي لـ </a:t>
            </a:r>
            <a:r>
              <a:rPr lang="ar-JO" sz="1600" b="1" dirty="0"/>
              <a:t>(عين المواطن)</a:t>
            </a:r>
            <a:r>
              <a:rPr lang="ar-JO" sz="1600" dirty="0"/>
              <a:t> يتجاوز كونه مجرد منصة ، فهو يحل فجوة التواصل بين المواطن وصناع القرار، ويحول عملية رصد مشاكل البنية التحتية من عملية عشوائية إلى منظومة رقمية دقيقة. من خلال هذا المشروع، نحن لا نرصد الأعطال فحسب، بل نساهم في:</a:t>
            </a:r>
          </a:p>
          <a:p>
            <a:pPr algn="r"/>
            <a:r>
              <a:rPr lang="ar-JO" sz="1600" b="1" dirty="0"/>
              <a:t>تقليل التكاليف,</a:t>
            </a:r>
            <a:r>
              <a:rPr lang="ar-JO" sz="1600" dirty="0"/>
              <a:t> </a:t>
            </a:r>
            <a:r>
              <a:rPr lang="ar-JO" sz="1600" b="1" dirty="0"/>
              <a:t>تعزيز الشفافية و توفير الوقت</a:t>
            </a:r>
            <a:endParaRPr lang="en-US" sz="1600" b="1" dirty="0"/>
          </a:p>
          <a:p>
            <a:pPr algn="r"/>
            <a:endParaRPr lang="ar-JO" sz="1200" dirty="0"/>
          </a:p>
          <a:p>
            <a:r>
              <a:rPr lang="ar-JO" dirty="0"/>
              <a:t> </a:t>
            </a:r>
            <a:endParaRPr lang="en-US" dirty="0"/>
          </a:p>
        </p:txBody>
      </p:sp>
      <p:pic>
        <p:nvPicPr>
          <p:cNvPr id="25" name="Graphic 24" descr="Graduation cap">
            <a:extLst>
              <a:ext uri="{FF2B5EF4-FFF2-40B4-BE49-F238E27FC236}">
                <a16:creationId xmlns:a16="http://schemas.microsoft.com/office/drawing/2014/main" id="{3B5E5E1E-EE3A-35A7-3358-EA62FEE6B4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1334515" flipH="1">
            <a:off x="5691353" y="4355954"/>
            <a:ext cx="424976" cy="424976"/>
          </a:xfrm>
          <a:prstGeom prst="rect">
            <a:avLst/>
          </a:prstGeom>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Ion">
  <a:themeElements>
    <a:clrScheme name="Custom 1">
      <a:dk1>
        <a:sysClr val="windowText" lastClr="000000"/>
      </a:dk1>
      <a:lt1>
        <a:sysClr val="window" lastClr="FFFFFF"/>
      </a:lt1>
      <a:dk2>
        <a:srgbClr val="242852"/>
      </a:dk2>
      <a:lt2>
        <a:srgbClr val="002060"/>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519</TotalTime>
  <Words>977</Words>
  <Application>Microsoft Office PowerPoint</Application>
  <PresentationFormat>On-screen Show (16:9)</PresentationFormat>
  <Paragraphs>120</Paragraphs>
  <Slides>10</Slides>
  <Notes>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10</vt:i4>
      </vt:variant>
    </vt:vector>
  </HeadingPairs>
  <TitlesOfParts>
    <vt:vector size="23" baseType="lpstr">
      <vt:lpstr>Simplified Arabic</vt:lpstr>
      <vt:lpstr>Century Gothic</vt:lpstr>
      <vt:lpstr>Courier New</vt:lpstr>
      <vt:lpstr>Trebuchet MS</vt:lpstr>
      <vt:lpstr>Syne Bold</vt:lpstr>
      <vt:lpstr>Wingdings 3</vt:lpstr>
      <vt:lpstr>Wingdings</vt:lpstr>
      <vt:lpstr>Arial</vt:lpstr>
      <vt:lpstr>Calibri</vt:lpstr>
      <vt:lpstr>Arimo</vt:lpstr>
      <vt:lpstr>Sakkal Majalla</vt:lpstr>
      <vt:lpstr>Facet</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MCC</dc:creator>
  <cp:lastModifiedBy>Tala Ghnimat</cp:lastModifiedBy>
  <cp:revision>9</cp:revision>
  <dcterms:created xsi:type="dcterms:W3CDTF">2026-05-13T18:08:54Z</dcterms:created>
  <dcterms:modified xsi:type="dcterms:W3CDTF">2026-05-19T17:42:35Z</dcterms:modified>
</cp:coreProperties>
</file>